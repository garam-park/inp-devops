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95959"/>
                </a:solidFill>
                <a:latin typeface="맑은 고딕"/>
              </a:rPr>
              <a:t>2026년 AI기반 위성정보 활용 서비스 확산사업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F3864"/>
                </a:solidFill>
                <a:latin typeface="맑은 고딕"/>
              </a:rPr>
              <a:t>화면 정의서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91840" y="3657600"/>
          <a:ext cx="55778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3840480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맑은 고딕"/>
                        </a:rPr>
                        <a:t>문서번호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맑은 고딕"/>
                        </a:rPr>
                        <a:t>JSA-PF-DS-009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맑은 고딕"/>
                        </a:rPr>
                        <a:t>시스템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맑은 고딕"/>
                        </a:rPr>
                        <a:t>지반침하 스마트 관리 시스템(통합플랫폼)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맑은 고딕"/>
                        </a:rPr>
                        <a:t>분류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맑은 고딕"/>
                        </a:rPr>
                        <a:t>설계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맑은 고딕"/>
                        </a:rPr>
                        <a:t>버전 / 작성일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맑은 고딕"/>
                        </a:rPr>
                        <a:t>V0.1 /  20  .  .  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맑은 고딕"/>
                        </a:rPr>
                        <a:t>작성자 / 승인자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864"/>
                </a:solidFill>
                <a:latin typeface="맑은 고딕"/>
              </a:rPr>
              <a:t>제·개정 이력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828800"/>
                <a:gridCol w="5486400"/>
                <a:gridCol w="1371600"/>
                <a:gridCol w="1280160"/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맑은 고딕"/>
                        </a:rPr>
                        <a:t>버전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맑은 고딕"/>
                        </a:rPr>
                        <a:t>날짜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맑은 고딕"/>
                        </a:rPr>
                        <a:t>변경 내용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맑은 고딕"/>
                        </a:rPr>
                        <a:t>작성자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맑은 고딕"/>
                        </a:rPr>
                        <a:t>승인자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맑은 고딕"/>
                        </a:rPr>
                        <a:t>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맑은 고딕"/>
                        </a:rPr>
                        <a:t>최초 작성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864"/>
                </a:solidFill>
                <a:latin typeface="맑은 고딕"/>
              </a:rPr>
              <a:t>화면 목록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828800"/>
                <a:gridCol w="2011680"/>
                <a:gridCol w="3474720"/>
                <a:gridCol w="1371600"/>
                <a:gridCol w="914400"/>
              </a:tblGrid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맑은 고딕"/>
                        </a:rPr>
                        <a:t>화면 ID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맑은 고딕"/>
                        </a:rPr>
                        <a:t>화면명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맑은 고딕"/>
                        </a:rPr>
                        <a:t>메뉴 경로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맑은 고딕"/>
                        </a:rPr>
                        <a:t>요구사항 ID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맑은 고딕"/>
                        </a:rPr>
                        <a:t>담당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7F7F7F"/>
                          </a:solidFill>
                          <a:latin typeface="맑은 고딕"/>
                        </a:rPr>
                        <a:t>예) U-001-001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7F7F7F"/>
                          </a:solidFill>
                          <a:latin typeface="맑은 고딕"/>
                        </a:rPr>
                        <a:t>예) 지도 보기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7F7F7F"/>
                          </a:solidFill>
                          <a:latin typeface="맑은 고딕"/>
                        </a:rPr>
                        <a:t>예) 메인 &gt; 지도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7F7F7F"/>
                          </a:solidFill>
                          <a:latin typeface="맑은 고딕"/>
                        </a:rPr>
                        <a:t>예) 소스·레이어를 얹어 보는 화면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7F7F7F"/>
                          </a:solidFill>
                          <a:latin typeface="맑은 고딕"/>
                        </a:rPr>
                        <a:t>예) SFR-001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864"/>
                </a:solidFill>
                <a:latin typeface="맑은 고딕"/>
              </a:rPr>
              <a:t>화면 상세  |  화면 ID:        화면명: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5669280" cy="5120640"/>
          </a:xfrm>
          <a:prstGeom prst="rect">
            <a:avLst/>
          </a:prstGeom>
          <a:solidFill>
            <a:srgbClr val="F2F2F2"/>
          </a:solidFill>
          <a:ln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7F7F7F"/>
                </a:solidFill>
                <a:latin typeface="맑은 고딕"/>
              </a:rPr>
              <a:t>화면 캡처 / 디자인(Figma) 이미지를 붙여 넣고</a:t>
            </a:r>
          </a:p>
          <a:p>
            <a:pPr algn="ctr"/>
            <a:r>
              <a:rPr sz="1300">
                <a:solidFill>
                  <a:srgbClr val="7F7F7F"/>
                </a:solidFill>
                <a:latin typeface="맑은 고딕"/>
              </a:rPr>
              <a:t>구성요소에 번호(①②③…)를 표시하세요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0" y="1005840"/>
          <a:ext cx="53035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1097280"/>
                <a:gridCol w="731520"/>
                <a:gridCol w="1554480"/>
                <a:gridCol w="14630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</a:rPr>
                        <a:t>번호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</a:rPr>
                        <a:t>구성요소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</a:rPr>
                        <a:t>유형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</a:rPr>
                        <a:t>설명 / 동작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</a:rPr>
                        <a:t>입력·검증 규칙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맑은 고딕"/>
                        </a:rPr>
                        <a:t>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맑은 고딕"/>
                        </a:rPr>
                        <a:t>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맑은 고딕"/>
                        </a:rPr>
                        <a:t>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맑은 고딕"/>
                        </a:rPr>
                        <a:t>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맑은 고딕"/>
                        </a:rPr>
                        <a:t>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맑은 고딕"/>
                        </a:rPr>
                        <a:t>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맑은 고딕"/>
                        </a:rPr>
                        <a:t>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864"/>
                </a:solidFill>
                <a:latin typeface="맑은 고딕"/>
              </a:rPr>
              <a:t>공통 규칙 · 메시지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6400800"/>
                <a:gridCol w="2377440"/>
              </a:tblGrid>
              <a:tr h="52251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맑은 고딕"/>
                        </a:rPr>
                        <a:t>적용 화면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7F7F7F"/>
                          </a:solidFill>
                          <a:latin typeface="맑은 고딕"/>
                        </a:rPr>
                        <a:t>예) 오류 메시지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7F7F7F"/>
                          </a:solidFill>
                          <a:latin typeface="맑은 고딕"/>
                        </a:rPr>
                        <a:t>예) 요청을 처리하지 못했습니다. 잠시 후 다시 시도하세요.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7F7F7F"/>
                          </a:solidFill>
                          <a:latin typeface="맑은 고딕"/>
                        </a:rPr>
                        <a:t>예) 전체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
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5"/>
  </p:notesMasterIdLst>
  <p:handoutMasterIdLst>
    <p:handoutMasterId r:id="rId26"/>
  </p:handoutMasterIdLst>
  <p:sldIdLst>
    <p:sldId id="275" r:id="rId2"/>
    <p:sldId id="257" r:id="rId3"/>
    <p:sldId id="378" r:id="rId4"/>
    <p:sldId id="272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</p:sldIdLst>
  <p:sldSz cx="12192000" cy="6858000"/>
  <p:notesSz cx="6797675" cy="9926638"/>
  <p:defaultTextStyle>
    <a:defPPr>
      <a:defRPr lang="ko-KR"/>
    </a:defPPr>
    <a:lvl1pPr marL="0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16179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32358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48537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664716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080895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497073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13253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329431" algn="l" defTabSz="832358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8094979-1EFB-4E15-97B4-2736D895B206}">
          <p14:sldIdLst>
            <p14:sldId id="275"/>
            <p14:sldId id="257"/>
            <p14:sldId id="378"/>
            <p14:sldId id="272"/>
          </p14:sldIdLst>
        </p14:section>
        <p14:section name="서비스 기본구성" id="{D2CBCF7B-F68D-4403-A4E0-2F02FC67722A}">
          <p14:sldIdLst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0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JByun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1F2024"/>
    <a:srgbClr val="ECECEC"/>
    <a:srgbClr val="DBCCEC"/>
    <a:srgbClr val="0C7AED"/>
    <a:srgbClr val="3B3C3E"/>
    <a:srgbClr val="363A40"/>
    <a:srgbClr val="36373C"/>
    <a:srgbClr val="4F5155"/>
    <a:srgbClr val="373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4993" autoAdjust="0"/>
  </p:normalViewPr>
  <p:slideViewPr>
    <p:cSldViewPr snapToGrid="0">
      <p:cViewPr varScale="1">
        <p:scale>
          <a:sx n="106" d="100"/>
          <a:sy n="106" d="100"/>
        </p:scale>
        <p:origin x="1056" y="176"/>
      </p:cViewPr>
      <p:guideLst>
        <p:guide orient="horz" pos="150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07" d="100"/>
          <a:sy n="107" d="100"/>
        </p:scale>
        <p:origin x="4176" y="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624F0FA-84FF-B892-44F7-7F352322B1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FC9204-EABA-6424-709D-DD47DD834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BE90C-207A-4A2B-9025-9B4DB7C20208}" type="datetimeFigureOut">
              <a:rPr lang="ko-KR" altLang="en-US" smtClean="0"/>
              <a:t>2026. 10. 19.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9AB8B0-93FB-BC76-1005-0B4B1CAE49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E2D50D-C6A9-E194-0DFC-A4EFEB9948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A37D0-0730-43F7-8E7B-DB3998E1F7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2361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4B2C8-B3C3-4059-84E2-AB5B2C71C23E}" type="datetimeFigureOut">
              <a:rPr lang="ko-KR" altLang="en-US" smtClean="0"/>
              <a:t>2026. 10. 19.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9AEDB-5C3A-4995-9B16-8170A8D18A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87756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5">
            <a:extLst>
              <a:ext uri="{FF2B5EF4-FFF2-40B4-BE49-F238E27FC236}">
                <a16:creationId xmlns:a16="http://schemas.microsoft.com/office/drawing/2014/main" id="{4CEC6A3E-F7D8-CCF5-DB13-6A1F6235B5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90960264"/>
              </p:ext>
            </p:extLst>
          </p:nvPr>
        </p:nvGraphicFramePr>
        <p:xfrm>
          <a:off x="95686" y="463892"/>
          <a:ext cx="11983956" cy="220291"/>
        </p:xfrm>
        <a:graphic>
          <a:graphicData uri="http://schemas.openxmlformats.org/drawingml/2006/table">
            <a:tbl>
              <a:tblPr/>
              <a:tblGrid>
                <a:gridCol w="1011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409">
                  <a:extLst>
                    <a:ext uri="{9D8B030D-6E8A-4147-A177-3AD203B41FA5}">
                      <a16:colId xmlns:a16="http://schemas.microsoft.com/office/drawing/2014/main" val="3230534269"/>
                    </a:ext>
                  </a:extLst>
                </a:gridCol>
                <a:gridCol w="4830275">
                  <a:extLst>
                    <a:ext uri="{9D8B030D-6E8A-4147-A177-3AD203B41FA5}">
                      <a16:colId xmlns:a16="http://schemas.microsoft.com/office/drawing/2014/main" val="634277216"/>
                    </a:ext>
                  </a:extLst>
                </a:gridCol>
              </a:tblGrid>
              <a:tr h="2202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매뉴명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화면명</a:t>
                      </a: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5AF0EA5-183C-0DA3-8114-0EE133009A45}"/>
              </a:ext>
            </a:extLst>
          </p:cNvPr>
          <p:cNvCxnSpPr>
            <a:cxnSpLocks/>
          </p:cNvCxnSpPr>
          <p:nvPr userDrawn="1"/>
        </p:nvCxnSpPr>
        <p:spPr>
          <a:xfrm flipH="1">
            <a:off x="942916" y="415774"/>
            <a:ext cx="1103626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8">
            <a:extLst>
              <a:ext uri="{FF2B5EF4-FFF2-40B4-BE49-F238E27FC236}">
                <a16:creationId xmlns:a16="http://schemas.microsoft.com/office/drawing/2014/main" id="{4715A2D0-639D-8DB8-570F-197661668628}"/>
              </a:ext>
            </a:extLst>
          </p:cNvPr>
          <p:cNvGrpSpPr/>
          <p:nvPr userDrawn="1"/>
        </p:nvGrpSpPr>
        <p:grpSpPr>
          <a:xfrm>
            <a:off x="90891" y="20642"/>
            <a:ext cx="497947" cy="401160"/>
            <a:chOff x="-1" y="0"/>
            <a:chExt cx="1048277" cy="1048031"/>
          </a:xfrm>
        </p:grpSpPr>
        <p:sp>
          <p:nvSpPr>
            <p:cNvPr id="31" name="한쪽 모서리가 둥근 사각형 18">
              <a:extLst>
                <a:ext uri="{FF2B5EF4-FFF2-40B4-BE49-F238E27FC236}">
                  <a16:creationId xmlns:a16="http://schemas.microsoft.com/office/drawing/2014/main" id="{5C5F2090-D0D5-8FF2-2743-41EDEAABF9BC}"/>
                </a:ext>
              </a:extLst>
            </p:cNvPr>
            <p:cNvSpPr/>
            <p:nvPr/>
          </p:nvSpPr>
          <p:spPr>
            <a:xfrm rot="5400000">
              <a:off x="122" y="-123"/>
              <a:ext cx="1048031" cy="1048277"/>
            </a:xfrm>
            <a:prstGeom prst="round1Rect">
              <a:avLst>
                <a:gd name="adj" fmla="val 0"/>
              </a:avLst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defTabSz="1024272"/>
              <a:endParaRPr lang="ko-KR" altLang="en-US" sz="2092" b="1" dirty="0">
                <a:ln w="12700">
                  <a:solidFill>
                    <a:srgbClr val="4F81BD">
                      <a:shade val="50000"/>
                      <a:alpha val="0"/>
                    </a:srgbClr>
                  </a:solidFill>
                  <a:prstDash val="solid"/>
                </a:ln>
                <a:solidFill>
                  <a:srgbClr val="EEECE1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각 삼각형 31">
              <a:extLst>
                <a:ext uri="{FF2B5EF4-FFF2-40B4-BE49-F238E27FC236}">
                  <a16:creationId xmlns:a16="http://schemas.microsoft.com/office/drawing/2014/main" id="{BAB1FF6C-EDD7-2B9D-D1B0-7B798F70EF94}"/>
                </a:ext>
              </a:extLst>
            </p:cNvPr>
            <p:cNvSpPr/>
            <p:nvPr/>
          </p:nvSpPr>
          <p:spPr bwMode="auto">
            <a:xfrm flipH="1">
              <a:off x="847743" y="847521"/>
              <a:ext cx="156324" cy="163342"/>
            </a:xfrm>
            <a:prstGeom prst="rtTriangle">
              <a:avLst/>
            </a:prstGeom>
            <a:solidFill>
              <a:srgbClr val="01B0F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24272"/>
              <a:endParaRPr lang="ko-KR" altLang="en-US" sz="2708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itchFamily="2" charset="-127"/>
                <a:ea typeface="KoPub돋움체 Bold" pitchFamily="2" charset="-127"/>
              </a:endParaRPr>
            </a:p>
          </p:txBody>
        </p:sp>
      </p:grpSp>
      <p:sp>
        <p:nvSpPr>
          <p:cNvPr id="33" name="Rectangle 760">
            <a:extLst>
              <a:ext uri="{FF2B5EF4-FFF2-40B4-BE49-F238E27FC236}">
                <a16:creationId xmlns:a16="http://schemas.microsoft.com/office/drawing/2014/main" id="{E3ABC59F-4E4E-ACA2-82FB-F215B21296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4" y="1260417"/>
            <a:ext cx="2223458" cy="20540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Description</a:t>
            </a:r>
          </a:p>
        </p:txBody>
      </p:sp>
      <p:sp>
        <p:nvSpPr>
          <p:cNvPr id="34" name="Rectangle 749">
            <a:extLst>
              <a:ext uri="{FF2B5EF4-FFF2-40B4-BE49-F238E27FC236}">
                <a16:creationId xmlns:a16="http://schemas.microsoft.com/office/drawing/2014/main" id="{AAE8934A-7539-E042-E847-DDD9C86C0D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1510335"/>
            <a:ext cx="2223457" cy="504027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35" name="Rectangle 760">
            <a:extLst>
              <a:ext uri="{FF2B5EF4-FFF2-40B4-BE49-F238E27FC236}">
                <a16:creationId xmlns:a16="http://schemas.microsoft.com/office/drawing/2014/main" id="{E0EEA55B-7ABE-CF5B-A97A-F37A101A3B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5842335"/>
            <a:ext cx="2223457" cy="2158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보완사항</a:t>
            </a:r>
            <a:endParaRPr lang="en-US" altLang="ko-KR" sz="800" b="0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9C56BBA-7E76-67F1-A31D-6B63D3811CF4}"/>
              </a:ext>
            </a:extLst>
          </p:cNvPr>
          <p:cNvSpPr/>
          <p:nvPr userDrawn="1"/>
        </p:nvSpPr>
        <p:spPr>
          <a:xfrm>
            <a:off x="942916" y="62539"/>
            <a:ext cx="276283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인프라 구성도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95581E6-A3B6-7A53-9421-92B81E639B08}"/>
              </a:ext>
            </a:extLst>
          </p:cNvPr>
          <p:cNvSpPr/>
          <p:nvPr userDrawn="1"/>
        </p:nvSpPr>
        <p:spPr>
          <a:xfrm>
            <a:off x="206569" y="62539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6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1.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652D7C67-B604-7AEA-1703-6187FA6CBB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94198405"/>
              </p:ext>
            </p:extLst>
          </p:nvPr>
        </p:nvGraphicFramePr>
        <p:xfrm>
          <a:off x="97661" y="718635"/>
          <a:ext cx="11981972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67">
                  <a:extLst>
                    <a:ext uri="{9D8B030D-6E8A-4147-A177-3AD203B41FA5}">
                      <a16:colId xmlns:a16="http://schemas.microsoft.com/office/drawing/2014/main" val="3049824010"/>
                    </a:ext>
                  </a:extLst>
                </a:gridCol>
                <a:gridCol w="3528203">
                  <a:extLst>
                    <a:ext uri="{9D8B030D-6E8A-4147-A177-3AD203B41FA5}">
                      <a16:colId xmlns:a16="http://schemas.microsoft.com/office/drawing/2014/main" val="856974802"/>
                    </a:ext>
                  </a:extLst>
                </a:gridCol>
                <a:gridCol w="534838">
                  <a:extLst>
                    <a:ext uri="{9D8B030D-6E8A-4147-A177-3AD203B41FA5}">
                      <a16:colId xmlns:a16="http://schemas.microsoft.com/office/drawing/2014/main" val="3566724404"/>
                    </a:ext>
                  </a:extLst>
                </a:gridCol>
                <a:gridCol w="753150">
                  <a:extLst>
                    <a:ext uri="{9D8B030D-6E8A-4147-A177-3AD203B41FA5}">
                      <a16:colId xmlns:a16="http://schemas.microsoft.com/office/drawing/2014/main" val="2867092123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 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유스케이스</a:t>
                      </a: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작성일</a:t>
                      </a:r>
                      <a:endParaRPr kumimoji="1" lang="en-US" altLang="ko-KR" sz="7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E9D911F3-A9E6-D0B9-5119-08709B9487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1106416"/>
              </p:ext>
            </p:extLst>
          </p:nvPr>
        </p:nvGraphicFramePr>
        <p:xfrm>
          <a:off x="97662" y="967379"/>
          <a:ext cx="11981970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2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464">
                  <a:extLst>
                    <a:ext uri="{9D8B030D-6E8A-4147-A177-3AD203B41FA5}">
                      <a16:colId xmlns:a16="http://schemas.microsoft.com/office/drawing/2014/main" val="2361301055"/>
                    </a:ext>
                  </a:extLst>
                </a:gridCol>
                <a:gridCol w="753149">
                  <a:extLst>
                    <a:ext uri="{9D8B030D-6E8A-4147-A177-3AD203B41FA5}">
                      <a16:colId xmlns:a16="http://schemas.microsoft.com/office/drawing/2014/main" val="161730016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요구사항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793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인터페이스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ID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작성자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Rectangle 749">
            <a:extLst>
              <a:ext uri="{FF2B5EF4-FFF2-40B4-BE49-F238E27FC236}">
                <a16:creationId xmlns:a16="http://schemas.microsoft.com/office/drawing/2014/main" id="{FFD90A42-5C5B-9650-26A7-F337B18C85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369" y="1260417"/>
            <a:ext cx="9706335" cy="52901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9204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5">
            <a:extLst>
              <a:ext uri="{FF2B5EF4-FFF2-40B4-BE49-F238E27FC236}">
                <a16:creationId xmlns:a16="http://schemas.microsoft.com/office/drawing/2014/main" id="{F0410493-8445-0BFE-555E-E97EB777D7D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93387852"/>
              </p:ext>
            </p:extLst>
          </p:nvPr>
        </p:nvGraphicFramePr>
        <p:xfrm>
          <a:off x="95686" y="463892"/>
          <a:ext cx="11983956" cy="220291"/>
        </p:xfrm>
        <a:graphic>
          <a:graphicData uri="http://schemas.openxmlformats.org/drawingml/2006/table">
            <a:tbl>
              <a:tblPr/>
              <a:tblGrid>
                <a:gridCol w="1011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409">
                  <a:extLst>
                    <a:ext uri="{9D8B030D-6E8A-4147-A177-3AD203B41FA5}">
                      <a16:colId xmlns:a16="http://schemas.microsoft.com/office/drawing/2014/main" val="3230534269"/>
                    </a:ext>
                  </a:extLst>
                </a:gridCol>
                <a:gridCol w="4830275">
                  <a:extLst>
                    <a:ext uri="{9D8B030D-6E8A-4147-A177-3AD203B41FA5}">
                      <a16:colId xmlns:a16="http://schemas.microsoft.com/office/drawing/2014/main" val="634277216"/>
                    </a:ext>
                  </a:extLst>
                </a:gridCol>
              </a:tblGrid>
              <a:tr h="2202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매뉴명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화면명</a:t>
                      </a: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2DBBB0B-7D87-B0A6-DB53-9504BBA6334D}"/>
              </a:ext>
            </a:extLst>
          </p:cNvPr>
          <p:cNvCxnSpPr>
            <a:cxnSpLocks/>
          </p:cNvCxnSpPr>
          <p:nvPr userDrawn="1"/>
        </p:nvCxnSpPr>
        <p:spPr>
          <a:xfrm flipH="1">
            <a:off x="942916" y="415774"/>
            <a:ext cx="1103626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28">
            <a:extLst>
              <a:ext uri="{FF2B5EF4-FFF2-40B4-BE49-F238E27FC236}">
                <a16:creationId xmlns:a16="http://schemas.microsoft.com/office/drawing/2014/main" id="{6A0B6B72-A76A-33DD-655B-B510D459517F}"/>
              </a:ext>
            </a:extLst>
          </p:cNvPr>
          <p:cNvGrpSpPr/>
          <p:nvPr userDrawn="1"/>
        </p:nvGrpSpPr>
        <p:grpSpPr>
          <a:xfrm>
            <a:off x="90891" y="20642"/>
            <a:ext cx="497947" cy="401160"/>
            <a:chOff x="-1" y="0"/>
            <a:chExt cx="1048277" cy="1048031"/>
          </a:xfrm>
        </p:grpSpPr>
        <p:sp>
          <p:nvSpPr>
            <p:cNvPr id="12" name="한쪽 모서리가 둥근 사각형 18">
              <a:extLst>
                <a:ext uri="{FF2B5EF4-FFF2-40B4-BE49-F238E27FC236}">
                  <a16:creationId xmlns:a16="http://schemas.microsoft.com/office/drawing/2014/main" id="{ACB63B15-8275-0981-5242-EDD3DCDFA7D3}"/>
                </a:ext>
              </a:extLst>
            </p:cNvPr>
            <p:cNvSpPr/>
            <p:nvPr/>
          </p:nvSpPr>
          <p:spPr>
            <a:xfrm rot="5400000">
              <a:off x="122" y="-123"/>
              <a:ext cx="1048031" cy="1048277"/>
            </a:xfrm>
            <a:prstGeom prst="round1Rect">
              <a:avLst>
                <a:gd name="adj" fmla="val 0"/>
              </a:avLst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defTabSz="1024272"/>
              <a:endParaRPr lang="ko-KR" altLang="en-US" sz="2092" b="1" dirty="0">
                <a:ln w="12700">
                  <a:solidFill>
                    <a:srgbClr val="4F81BD">
                      <a:shade val="50000"/>
                      <a:alpha val="0"/>
                    </a:srgbClr>
                  </a:solidFill>
                  <a:prstDash val="solid"/>
                </a:ln>
                <a:solidFill>
                  <a:srgbClr val="EEECE1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각 삼각형 20">
              <a:extLst>
                <a:ext uri="{FF2B5EF4-FFF2-40B4-BE49-F238E27FC236}">
                  <a16:creationId xmlns:a16="http://schemas.microsoft.com/office/drawing/2014/main" id="{2CF3301E-60F7-CFA3-2E3A-E9C311B47ED4}"/>
                </a:ext>
              </a:extLst>
            </p:cNvPr>
            <p:cNvSpPr/>
            <p:nvPr/>
          </p:nvSpPr>
          <p:spPr bwMode="auto">
            <a:xfrm flipH="1">
              <a:off x="847743" y="847521"/>
              <a:ext cx="156324" cy="163342"/>
            </a:xfrm>
            <a:prstGeom prst="rtTriangle">
              <a:avLst/>
            </a:prstGeom>
            <a:solidFill>
              <a:srgbClr val="01B0F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24272"/>
              <a:endParaRPr lang="ko-KR" altLang="en-US" sz="2708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itchFamily="2" charset="-127"/>
                <a:ea typeface="KoPub돋움체 Bold" pitchFamily="2" charset="-127"/>
              </a:endParaRPr>
            </a:p>
          </p:txBody>
        </p:sp>
      </p:grpSp>
      <p:sp>
        <p:nvSpPr>
          <p:cNvPr id="22" name="Rectangle 760">
            <a:extLst>
              <a:ext uri="{FF2B5EF4-FFF2-40B4-BE49-F238E27FC236}">
                <a16:creationId xmlns:a16="http://schemas.microsoft.com/office/drawing/2014/main" id="{C8772501-6E9C-2646-7A04-03D50357CB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4" y="1260417"/>
            <a:ext cx="2223458" cy="20540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Description</a:t>
            </a:r>
          </a:p>
        </p:txBody>
      </p:sp>
      <p:sp>
        <p:nvSpPr>
          <p:cNvPr id="23" name="Rectangle 749">
            <a:extLst>
              <a:ext uri="{FF2B5EF4-FFF2-40B4-BE49-F238E27FC236}">
                <a16:creationId xmlns:a16="http://schemas.microsoft.com/office/drawing/2014/main" id="{06D16B32-09CF-C9BE-74B6-F7133FD3FA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1510335"/>
            <a:ext cx="2223457" cy="504027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24" name="Rectangle 760">
            <a:extLst>
              <a:ext uri="{FF2B5EF4-FFF2-40B4-BE49-F238E27FC236}">
                <a16:creationId xmlns:a16="http://schemas.microsoft.com/office/drawing/2014/main" id="{F9E812C9-95D8-2621-511A-7392DB26A2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5842335"/>
            <a:ext cx="2223457" cy="2158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보완사항</a:t>
            </a:r>
            <a:endParaRPr lang="en-US" altLang="ko-KR" sz="800" b="0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3F9148-9E38-807B-1CE6-6026919721EA}"/>
              </a:ext>
            </a:extLst>
          </p:cNvPr>
          <p:cNvSpPr/>
          <p:nvPr userDrawn="1"/>
        </p:nvSpPr>
        <p:spPr>
          <a:xfrm>
            <a:off x="1014773" y="59880"/>
            <a:ext cx="276283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서비스 계층도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541B28-EFA1-CFAE-EFB3-383829795841}"/>
              </a:ext>
            </a:extLst>
          </p:cNvPr>
          <p:cNvSpPr/>
          <p:nvPr userDrawn="1"/>
        </p:nvSpPr>
        <p:spPr>
          <a:xfrm>
            <a:off x="206569" y="62539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6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2.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A25AD2E-1C97-9C35-F7CF-CB79CC8E7EA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8242237"/>
              </p:ext>
            </p:extLst>
          </p:nvPr>
        </p:nvGraphicFramePr>
        <p:xfrm>
          <a:off x="97661" y="718635"/>
          <a:ext cx="11981972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67">
                  <a:extLst>
                    <a:ext uri="{9D8B030D-6E8A-4147-A177-3AD203B41FA5}">
                      <a16:colId xmlns:a16="http://schemas.microsoft.com/office/drawing/2014/main" val="3049824010"/>
                    </a:ext>
                  </a:extLst>
                </a:gridCol>
                <a:gridCol w="3528203">
                  <a:extLst>
                    <a:ext uri="{9D8B030D-6E8A-4147-A177-3AD203B41FA5}">
                      <a16:colId xmlns:a16="http://schemas.microsoft.com/office/drawing/2014/main" val="856974802"/>
                    </a:ext>
                  </a:extLst>
                </a:gridCol>
                <a:gridCol w="534838">
                  <a:extLst>
                    <a:ext uri="{9D8B030D-6E8A-4147-A177-3AD203B41FA5}">
                      <a16:colId xmlns:a16="http://schemas.microsoft.com/office/drawing/2014/main" val="3566724404"/>
                    </a:ext>
                  </a:extLst>
                </a:gridCol>
                <a:gridCol w="753150">
                  <a:extLst>
                    <a:ext uri="{9D8B030D-6E8A-4147-A177-3AD203B41FA5}">
                      <a16:colId xmlns:a16="http://schemas.microsoft.com/office/drawing/2014/main" val="2867092123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 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유스케이스</a:t>
                      </a: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작성일</a:t>
                      </a:r>
                      <a:endParaRPr kumimoji="1" lang="en-US" altLang="ko-KR" sz="7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D8521DA-FD31-EBB4-3070-BFBA0FAA15B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9410070"/>
              </p:ext>
            </p:extLst>
          </p:nvPr>
        </p:nvGraphicFramePr>
        <p:xfrm>
          <a:off x="97662" y="967379"/>
          <a:ext cx="11981970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2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464">
                  <a:extLst>
                    <a:ext uri="{9D8B030D-6E8A-4147-A177-3AD203B41FA5}">
                      <a16:colId xmlns:a16="http://schemas.microsoft.com/office/drawing/2014/main" val="2361301055"/>
                    </a:ext>
                  </a:extLst>
                </a:gridCol>
                <a:gridCol w="753149">
                  <a:extLst>
                    <a:ext uri="{9D8B030D-6E8A-4147-A177-3AD203B41FA5}">
                      <a16:colId xmlns:a16="http://schemas.microsoft.com/office/drawing/2014/main" val="161730016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요구사항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793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인터페이스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ID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작성자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Rectangle 749">
            <a:extLst>
              <a:ext uri="{FF2B5EF4-FFF2-40B4-BE49-F238E27FC236}">
                <a16:creationId xmlns:a16="http://schemas.microsoft.com/office/drawing/2014/main" id="{1643A61E-A87A-FFCD-60BE-AACA3C6C77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369" y="1260417"/>
            <a:ext cx="9706335" cy="52901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2355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">
            <a:extLst>
              <a:ext uri="{FF2B5EF4-FFF2-40B4-BE49-F238E27FC236}">
                <a16:creationId xmlns:a16="http://schemas.microsoft.com/office/drawing/2014/main" id="{EF918906-60B4-AD35-3188-4B02736805F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68735659"/>
              </p:ext>
            </p:extLst>
          </p:nvPr>
        </p:nvGraphicFramePr>
        <p:xfrm>
          <a:off x="95686" y="463892"/>
          <a:ext cx="11983956" cy="220291"/>
        </p:xfrm>
        <a:graphic>
          <a:graphicData uri="http://schemas.openxmlformats.org/drawingml/2006/table">
            <a:tbl>
              <a:tblPr/>
              <a:tblGrid>
                <a:gridCol w="1011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409">
                  <a:extLst>
                    <a:ext uri="{9D8B030D-6E8A-4147-A177-3AD203B41FA5}">
                      <a16:colId xmlns:a16="http://schemas.microsoft.com/office/drawing/2014/main" val="3230534269"/>
                    </a:ext>
                  </a:extLst>
                </a:gridCol>
                <a:gridCol w="4830275">
                  <a:extLst>
                    <a:ext uri="{9D8B030D-6E8A-4147-A177-3AD203B41FA5}">
                      <a16:colId xmlns:a16="http://schemas.microsoft.com/office/drawing/2014/main" val="634277216"/>
                    </a:ext>
                  </a:extLst>
                </a:gridCol>
              </a:tblGrid>
              <a:tr h="2202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매뉴명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화면명</a:t>
                      </a: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13BFE6D-9F1C-70F9-DDB1-583D72506F32}"/>
              </a:ext>
            </a:extLst>
          </p:cNvPr>
          <p:cNvCxnSpPr>
            <a:cxnSpLocks/>
          </p:cNvCxnSpPr>
          <p:nvPr userDrawn="1"/>
        </p:nvCxnSpPr>
        <p:spPr>
          <a:xfrm flipH="1">
            <a:off x="942916" y="415774"/>
            <a:ext cx="1103626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28">
            <a:extLst>
              <a:ext uri="{FF2B5EF4-FFF2-40B4-BE49-F238E27FC236}">
                <a16:creationId xmlns:a16="http://schemas.microsoft.com/office/drawing/2014/main" id="{7C33964B-1B68-2FFF-C7A9-E08F81108E87}"/>
              </a:ext>
            </a:extLst>
          </p:cNvPr>
          <p:cNvGrpSpPr/>
          <p:nvPr userDrawn="1"/>
        </p:nvGrpSpPr>
        <p:grpSpPr>
          <a:xfrm>
            <a:off x="90891" y="20642"/>
            <a:ext cx="497947" cy="401160"/>
            <a:chOff x="-1" y="0"/>
            <a:chExt cx="1048277" cy="1048031"/>
          </a:xfrm>
        </p:grpSpPr>
        <p:sp>
          <p:nvSpPr>
            <p:cNvPr id="6" name="한쪽 모서리가 둥근 사각형 18">
              <a:extLst>
                <a:ext uri="{FF2B5EF4-FFF2-40B4-BE49-F238E27FC236}">
                  <a16:creationId xmlns:a16="http://schemas.microsoft.com/office/drawing/2014/main" id="{4CD3C63A-D06A-6E68-9294-B2C6B4129F79}"/>
                </a:ext>
              </a:extLst>
            </p:cNvPr>
            <p:cNvSpPr/>
            <p:nvPr/>
          </p:nvSpPr>
          <p:spPr>
            <a:xfrm rot="5400000">
              <a:off x="122" y="-123"/>
              <a:ext cx="1048031" cy="1048277"/>
            </a:xfrm>
            <a:prstGeom prst="round1Rect">
              <a:avLst>
                <a:gd name="adj" fmla="val 0"/>
              </a:avLst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defTabSz="1024272"/>
              <a:endParaRPr lang="ko-KR" altLang="en-US" sz="2092" b="1" dirty="0">
                <a:ln w="12700">
                  <a:solidFill>
                    <a:srgbClr val="4F81BD">
                      <a:shade val="50000"/>
                      <a:alpha val="0"/>
                    </a:srgbClr>
                  </a:solidFill>
                  <a:prstDash val="solid"/>
                </a:ln>
                <a:solidFill>
                  <a:srgbClr val="EEECE1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각 삼각형 6">
              <a:extLst>
                <a:ext uri="{FF2B5EF4-FFF2-40B4-BE49-F238E27FC236}">
                  <a16:creationId xmlns:a16="http://schemas.microsoft.com/office/drawing/2014/main" id="{6B84A2EA-92C2-9BD5-2809-DCA548ED443D}"/>
                </a:ext>
              </a:extLst>
            </p:cNvPr>
            <p:cNvSpPr/>
            <p:nvPr/>
          </p:nvSpPr>
          <p:spPr bwMode="auto">
            <a:xfrm flipH="1">
              <a:off x="847743" y="847521"/>
              <a:ext cx="156324" cy="163342"/>
            </a:xfrm>
            <a:prstGeom prst="rtTriangle">
              <a:avLst/>
            </a:prstGeom>
            <a:solidFill>
              <a:srgbClr val="01B0F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24272"/>
              <a:endParaRPr lang="ko-KR" altLang="en-US" sz="2708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itchFamily="2" charset="-127"/>
                <a:ea typeface="KoPub돋움체 Bold" pitchFamily="2" charset="-127"/>
              </a:endParaRPr>
            </a:p>
          </p:txBody>
        </p:sp>
      </p:grpSp>
      <p:sp>
        <p:nvSpPr>
          <p:cNvPr id="8" name="Rectangle 760">
            <a:extLst>
              <a:ext uri="{FF2B5EF4-FFF2-40B4-BE49-F238E27FC236}">
                <a16:creationId xmlns:a16="http://schemas.microsoft.com/office/drawing/2014/main" id="{412D167C-653D-E718-713B-7F1C86D2F8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4" y="1260417"/>
            <a:ext cx="2223458" cy="20540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Description</a:t>
            </a:r>
          </a:p>
        </p:txBody>
      </p:sp>
      <p:sp>
        <p:nvSpPr>
          <p:cNvPr id="9" name="Rectangle 749">
            <a:extLst>
              <a:ext uri="{FF2B5EF4-FFF2-40B4-BE49-F238E27FC236}">
                <a16:creationId xmlns:a16="http://schemas.microsoft.com/office/drawing/2014/main" id="{33E9D8B6-18FE-D609-5BED-AF3058B3B7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1510335"/>
            <a:ext cx="2223457" cy="504027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10" name="Rectangle 760">
            <a:extLst>
              <a:ext uri="{FF2B5EF4-FFF2-40B4-BE49-F238E27FC236}">
                <a16:creationId xmlns:a16="http://schemas.microsoft.com/office/drawing/2014/main" id="{A7B0A7C2-0386-5341-E8B4-02C8B70B07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5842335"/>
            <a:ext cx="2223457" cy="2158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보완사항</a:t>
            </a:r>
            <a:endParaRPr lang="en-US" altLang="ko-KR" sz="800" b="0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EC7C52-7F99-59D6-1A5F-19C279419706}"/>
              </a:ext>
            </a:extLst>
          </p:cNvPr>
          <p:cNvSpPr/>
          <p:nvPr userDrawn="1"/>
        </p:nvSpPr>
        <p:spPr>
          <a:xfrm>
            <a:off x="1014773" y="59880"/>
            <a:ext cx="276283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서비스 기본구성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A31B78-DBDB-556B-1B20-961F8C345549}"/>
              </a:ext>
            </a:extLst>
          </p:cNvPr>
          <p:cNvSpPr/>
          <p:nvPr userDrawn="1"/>
        </p:nvSpPr>
        <p:spPr>
          <a:xfrm>
            <a:off x="206569" y="62539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6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3.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AC3C4F5-F045-B893-75BF-F87268C8B58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44113077"/>
              </p:ext>
            </p:extLst>
          </p:nvPr>
        </p:nvGraphicFramePr>
        <p:xfrm>
          <a:off x="97661" y="718635"/>
          <a:ext cx="11981972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67">
                  <a:extLst>
                    <a:ext uri="{9D8B030D-6E8A-4147-A177-3AD203B41FA5}">
                      <a16:colId xmlns:a16="http://schemas.microsoft.com/office/drawing/2014/main" val="3049824010"/>
                    </a:ext>
                  </a:extLst>
                </a:gridCol>
                <a:gridCol w="3528203">
                  <a:extLst>
                    <a:ext uri="{9D8B030D-6E8A-4147-A177-3AD203B41FA5}">
                      <a16:colId xmlns:a16="http://schemas.microsoft.com/office/drawing/2014/main" val="856974802"/>
                    </a:ext>
                  </a:extLst>
                </a:gridCol>
                <a:gridCol w="534838">
                  <a:extLst>
                    <a:ext uri="{9D8B030D-6E8A-4147-A177-3AD203B41FA5}">
                      <a16:colId xmlns:a16="http://schemas.microsoft.com/office/drawing/2014/main" val="3566724404"/>
                    </a:ext>
                  </a:extLst>
                </a:gridCol>
                <a:gridCol w="753150">
                  <a:extLst>
                    <a:ext uri="{9D8B030D-6E8A-4147-A177-3AD203B41FA5}">
                      <a16:colId xmlns:a16="http://schemas.microsoft.com/office/drawing/2014/main" val="2867092123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 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유스케이스</a:t>
                      </a: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작성일</a:t>
                      </a:r>
                      <a:endParaRPr kumimoji="1" lang="en-US" altLang="ko-KR" sz="7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2B7F681-78D0-9C1E-C7C5-A34FFF38740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8319649"/>
              </p:ext>
            </p:extLst>
          </p:nvPr>
        </p:nvGraphicFramePr>
        <p:xfrm>
          <a:off x="97662" y="967379"/>
          <a:ext cx="11981970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2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464">
                  <a:extLst>
                    <a:ext uri="{9D8B030D-6E8A-4147-A177-3AD203B41FA5}">
                      <a16:colId xmlns:a16="http://schemas.microsoft.com/office/drawing/2014/main" val="2361301055"/>
                    </a:ext>
                  </a:extLst>
                </a:gridCol>
                <a:gridCol w="753149">
                  <a:extLst>
                    <a:ext uri="{9D8B030D-6E8A-4147-A177-3AD203B41FA5}">
                      <a16:colId xmlns:a16="http://schemas.microsoft.com/office/drawing/2014/main" val="161730016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요구사항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793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인터페이스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ID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작성자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749">
            <a:extLst>
              <a:ext uri="{FF2B5EF4-FFF2-40B4-BE49-F238E27FC236}">
                <a16:creationId xmlns:a16="http://schemas.microsoft.com/office/drawing/2014/main" id="{72295194-D582-B19D-1415-D8CC4ACC94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369" y="1260417"/>
            <a:ext cx="9706335" cy="52901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800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DEF4E5D1-737E-2D13-F061-611FDBA5F77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43467340"/>
              </p:ext>
            </p:extLst>
          </p:nvPr>
        </p:nvGraphicFramePr>
        <p:xfrm>
          <a:off x="95686" y="463892"/>
          <a:ext cx="11983956" cy="220291"/>
        </p:xfrm>
        <a:graphic>
          <a:graphicData uri="http://schemas.openxmlformats.org/drawingml/2006/table">
            <a:tbl>
              <a:tblPr/>
              <a:tblGrid>
                <a:gridCol w="1011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409">
                  <a:extLst>
                    <a:ext uri="{9D8B030D-6E8A-4147-A177-3AD203B41FA5}">
                      <a16:colId xmlns:a16="http://schemas.microsoft.com/office/drawing/2014/main" val="3230534269"/>
                    </a:ext>
                  </a:extLst>
                </a:gridCol>
                <a:gridCol w="4830275">
                  <a:extLst>
                    <a:ext uri="{9D8B030D-6E8A-4147-A177-3AD203B41FA5}">
                      <a16:colId xmlns:a16="http://schemas.microsoft.com/office/drawing/2014/main" val="634277216"/>
                    </a:ext>
                  </a:extLst>
                </a:gridCol>
              </a:tblGrid>
              <a:tr h="2202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매뉴명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화면명</a:t>
                      </a: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C70184-CF3F-1436-FA2D-DE54AB22E95E}"/>
              </a:ext>
            </a:extLst>
          </p:cNvPr>
          <p:cNvCxnSpPr>
            <a:cxnSpLocks/>
          </p:cNvCxnSpPr>
          <p:nvPr userDrawn="1"/>
        </p:nvCxnSpPr>
        <p:spPr>
          <a:xfrm flipH="1">
            <a:off x="942916" y="415774"/>
            <a:ext cx="1103626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28">
            <a:extLst>
              <a:ext uri="{FF2B5EF4-FFF2-40B4-BE49-F238E27FC236}">
                <a16:creationId xmlns:a16="http://schemas.microsoft.com/office/drawing/2014/main" id="{54FAB06C-E815-0740-C16F-49092B8A82C6}"/>
              </a:ext>
            </a:extLst>
          </p:cNvPr>
          <p:cNvGrpSpPr/>
          <p:nvPr userDrawn="1"/>
        </p:nvGrpSpPr>
        <p:grpSpPr>
          <a:xfrm>
            <a:off x="90891" y="20642"/>
            <a:ext cx="497947" cy="401160"/>
            <a:chOff x="-1" y="0"/>
            <a:chExt cx="1048277" cy="1048031"/>
          </a:xfrm>
        </p:grpSpPr>
        <p:sp>
          <p:nvSpPr>
            <p:cNvPr id="9" name="한쪽 모서리가 둥근 사각형 18">
              <a:extLst>
                <a:ext uri="{FF2B5EF4-FFF2-40B4-BE49-F238E27FC236}">
                  <a16:creationId xmlns:a16="http://schemas.microsoft.com/office/drawing/2014/main" id="{ECE5F526-A354-91CE-341A-604C61D178B3}"/>
                </a:ext>
              </a:extLst>
            </p:cNvPr>
            <p:cNvSpPr/>
            <p:nvPr/>
          </p:nvSpPr>
          <p:spPr>
            <a:xfrm rot="5400000">
              <a:off x="122" y="-123"/>
              <a:ext cx="1048031" cy="1048277"/>
            </a:xfrm>
            <a:prstGeom prst="round1Rect">
              <a:avLst>
                <a:gd name="adj" fmla="val 0"/>
              </a:avLst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defTabSz="1024272"/>
              <a:endParaRPr lang="ko-KR" altLang="en-US" sz="2092" b="1" dirty="0">
                <a:ln w="12700">
                  <a:solidFill>
                    <a:srgbClr val="4F81BD">
                      <a:shade val="50000"/>
                      <a:alpha val="0"/>
                    </a:srgbClr>
                  </a:solidFill>
                  <a:prstDash val="solid"/>
                </a:ln>
                <a:solidFill>
                  <a:srgbClr val="EEECE1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B5F292A8-8BC3-5F09-E799-0D25B339C6CC}"/>
                </a:ext>
              </a:extLst>
            </p:cNvPr>
            <p:cNvSpPr/>
            <p:nvPr/>
          </p:nvSpPr>
          <p:spPr bwMode="auto">
            <a:xfrm flipH="1">
              <a:off x="847743" y="847521"/>
              <a:ext cx="156324" cy="163342"/>
            </a:xfrm>
            <a:prstGeom prst="rtTriangle">
              <a:avLst/>
            </a:prstGeom>
            <a:solidFill>
              <a:srgbClr val="01B0F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24272"/>
              <a:endParaRPr lang="ko-KR" altLang="en-US" sz="2708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itchFamily="2" charset="-127"/>
                <a:ea typeface="KoPub돋움체 Bold" pitchFamily="2" charset="-127"/>
              </a:endParaRPr>
            </a:p>
          </p:txBody>
        </p:sp>
      </p:grpSp>
      <p:sp>
        <p:nvSpPr>
          <p:cNvPr id="17" name="Rectangle 760">
            <a:extLst>
              <a:ext uri="{FF2B5EF4-FFF2-40B4-BE49-F238E27FC236}">
                <a16:creationId xmlns:a16="http://schemas.microsoft.com/office/drawing/2014/main" id="{EBF7DFBA-E2FC-0015-1C71-E6F5510091E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4" y="1260417"/>
            <a:ext cx="2223458" cy="20540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Description</a:t>
            </a:r>
          </a:p>
        </p:txBody>
      </p:sp>
      <p:sp>
        <p:nvSpPr>
          <p:cNvPr id="18" name="Rectangle 749">
            <a:extLst>
              <a:ext uri="{FF2B5EF4-FFF2-40B4-BE49-F238E27FC236}">
                <a16:creationId xmlns:a16="http://schemas.microsoft.com/office/drawing/2014/main" id="{E661CE34-5659-9FE0-E449-78346BE262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1510335"/>
            <a:ext cx="2223457" cy="504027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22" name="Rectangle 760">
            <a:extLst>
              <a:ext uri="{FF2B5EF4-FFF2-40B4-BE49-F238E27FC236}">
                <a16:creationId xmlns:a16="http://schemas.microsoft.com/office/drawing/2014/main" id="{ED072C20-81CB-7FD4-5DEC-485FC4B5BA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5842335"/>
            <a:ext cx="2223457" cy="2158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보완사항</a:t>
            </a:r>
            <a:endParaRPr lang="en-US" altLang="ko-KR" sz="800" b="0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8A765D-EC46-FCBE-09C6-5CD0D44F4F30}"/>
              </a:ext>
            </a:extLst>
          </p:cNvPr>
          <p:cNvSpPr/>
          <p:nvPr userDrawn="1"/>
        </p:nvSpPr>
        <p:spPr>
          <a:xfrm>
            <a:off x="1014773" y="59880"/>
            <a:ext cx="276283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서비스 업무 프로세스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E30BC9-F3ED-6F08-9903-EB7AB327E641}"/>
              </a:ext>
            </a:extLst>
          </p:cNvPr>
          <p:cNvSpPr/>
          <p:nvPr userDrawn="1"/>
        </p:nvSpPr>
        <p:spPr>
          <a:xfrm>
            <a:off x="206569" y="62539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6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4.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0B3A761-3AAB-A9E8-4B14-E9FE308CF4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9419675"/>
              </p:ext>
            </p:extLst>
          </p:nvPr>
        </p:nvGraphicFramePr>
        <p:xfrm>
          <a:off x="97661" y="718635"/>
          <a:ext cx="11981972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67">
                  <a:extLst>
                    <a:ext uri="{9D8B030D-6E8A-4147-A177-3AD203B41FA5}">
                      <a16:colId xmlns:a16="http://schemas.microsoft.com/office/drawing/2014/main" val="3049824010"/>
                    </a:ext>
                  </a:extLst>
                </a:gridCol>
                <a:gridCol w="3528203">
                  <a:extLst>
                    <a:ext uri="{9D8B030D-6E8A-4147-A177-3AD203B41FA5}">
                      <a16:colId xmlns:a16="http://schemas.microsoft.com/office/drawing/2014/main" val="856974802"/>
                    </a:ext>
                  </a:extLst>
                </a:gridCol>
                <a:gridCol w="534838">
                  <a:extLst>
                    <a:ext uri="{9D8B030D-6E8A-4147-A177-3AD203B41FA5}">
                      <a16:colId xmlns:a16="http://schemas.microsoft.com/office/drawing/2014/main" val="3566724404"/>
                    </a:ext>
                  </a:extLst>
                </a:gridCol>
                <a:gridCol w="753150">
                  <a:extLst>
                    <a:ext uri="{9D8B030D-6E8A-4147-A177-3AD203B41FA5}">
                      <a16:colId xmlns:a16="http://schemas.microsoft.com/office/drawing/2014/main" val="2867092123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 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유스케이스</a:t>
                      </a: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작성일</a:t>
                      </a:r>
                      <a:endParaRPr kumimoji="1" lang="en-US" altLang="ko-KR" sz="7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D2330AC-5BD0-8288-EDF7-F2B75D7030E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8095976"/>
              </p:ext>
            </p:extLst>
          </p:nvPr>
        </p:nvGraphicFramePr>
        <p:xfrm>
          <a:off x="97662" y="967379"/>
          <a:ext cx="11981970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2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464">
                  <a:extLst>
                    <a:ext uri="{9D8B030D-6E8A-4147-A177-3AD203B41FA5}">
                      <a16:colId xmlns:a16="http://schemas.microsoft.com/office/drawing/2014/main" val="2361301055"/>
                    </a:ext>
                  </a:extLst>
                </a:gridCol>
                <a:gridCol w="753149">
                  <a:extLst>
                    <a:ext uri="{9D8B030D-6E8A-4147-A177-3AD203B41FA5}">
                      <a16:colId xmlns:a16="http://schemas.microsoft.com/office/drawing/2014/main" val="161730016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요구사항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793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인터페이스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ID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작성자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Rectangle 749">
            <a:extLst>
              <a:ext uri="{FF2B5EF4-FFF2-40B4-BE49-F238E27FC236}">
                <a16:creationId xmlns:a16="http://schemas.microsoft.com/office/drawing/2014/main" id="{BAB96ABD-19C5-B2D8-3E51-E6E6D60CE0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369" y="1260417"/>
            <a:ext cx="9706335" cy="52901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0181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F62D5485-50E5-23E5-5B34-8C2F6F7428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9000178"/>
              </p:ext>
            </p:extLst>
          </p:nvPr>
        </p:nvGraphicFramePr>
        <p:xfrm>
          <a:off x="95686" y="463892"/>
          <a:ext cx="11983956" cy="220291"/>
        </p:xfrm>
        <a:graphic>
          <a:graphicData uri="http://schemas.openxmlformats.org/drawingml/2006/table">
            <a:tbl>
              <a:tblPr/>
              <a:tblGrid>
                <a:gridCol w="1011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409">
                  <a:extLst>
                    <a:ext uri="{9D8B030D-6E8A-4147-A177-3AD203B41FA5}">
                      <a16:colId xmlns:a16="http://schemas.microsoft.com/office/drawing/2014/main" val="3230534269"/>
                    </a:ext>
                  </a:extLst>
                </a:gridCol>
                <a:gridCol w="4830275">
                  <a:extLst>
                    <a:ext uri="{9D8B030D-6E8A-4147-A177-3AD203B41FA5}">
                      <a16:colId xmlns:a16="http://schemas.microsoft.com/office/drawing/2014/main" val="634277216"/>
                    </a:ext>
                  </a:extLst>
                </a:gridCol>
              </a:tblGrid>
              <a:tr h="2202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매뉴명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화면명</a:t>
                      </a:r>
                      <a:endParaRPr kumimoji="1" lang="en-US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8" marR="88468" marT="34834" marB="34834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750BA7C-9845-9BCA-74B0-B01BD8D1D318}"/>
              </a:ext>
            </a:extLst>
          </p:cNvPr>
          <p:cNvCxnSpPr>
            <a:cxnSpLocks/>
          </p:cNvCxnSpPr>
          <p:nvPr userDrawn="1"/>
        </p:nvCxnSpPr>
        <p:spPr>
          <a:xfrm flipH="1">
            <a:off x="942916" y="415774"/>
            <a:ext cx="1103626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28">
            <a:extLst>
              <a:ext uri="{FF2B5EF4-FFF2-40B4-BE49-F238E27FC236}">
                <a16:creationId xmlns:a16="http://schemas.microsoft.com/office/drawing/2014/main" id="{84D14F20-6AF7-7F95-9ECE-B0C5042012B2}"/>
              </a:ext>
            </a:extLst>
          </p:cNvPr>
          <p:cNvGrpSpPr/>
          <p:nvPr userDrawn="1"/>
        </p:nvGrpSpPr>
        <p:grpSpPr>
          <a:xfrm>
            <a:off x="90891" y="20642"/>
            <a:ext cx="497947" cy="401160"/>
            <a:chOff x="-1" y="0"/>
            <a:chExt cx="1048277" cy="1048031"/>
          </a:xfrm>
        </p:grpSpPr>
        <p:sp>
          <p:nvSpPr>
            <p:cNvPr id="9" name="한쪽 모서리가 둥근 사각형 18">
              <a:extLst>
                <a:ext uri="{FF2B5EF4-FFF2-40B4-BE49-F238E27FC236}">
                  <a16:creationId xmlns:a16="http://schemas.microsoft.com/office/drawing/2014/main" id="{09B3045A-6427-D04F-CF1C-ABF973A8829E}"/>
                </a:ext>
              </a:extLst>
            </p:cNvPr>
            <p:cNvSpPr/>
            <p:nvPr/>
          </p:nvSpPr>
          <p:spPr>
            <a:xfrm rot="5400000">
              <a:off x="122" y="-123"/>
              <a:ext cx="1048031" cy="1048277"/>
            </a:xfrm>
            <a:prstGeom prst="round1Rect">
              <a:avLst>
                <a:gd name="adj" fmla="val 0"/>
              </a:avLst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defTabSz="1024272"/>
              <a:endParaRPr lang="ko-KR" altLang="en-US" sz="2092" b="1" dirty="0">
                <a:ln w="12700">
                  <a:solidFill>
                    <a:srgbClr val="4F81BD">
                      <a:shade val="50000"/>
                      <a:alpha val="0"/>
                    </a:srgbClr>
                  </a:solidFill>
                  <a:prstDash val="solid"/>
                </a:ln>
                <a:solidFill>
                  <a:srgbClr val="EEECE1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8E9840F9-5E55-DF84-81B0-45C6541009B1}"/>
                </a:ext>
              </a:extLst>
            </p:cNvPr>
            <p:cNvSpPr/>
            <p:nvPr/>
          </p:nvSpPr>
          <p:spPr bwMode="auto">
            <a:xfrm flipH="1">
              <a:off x="847743" y="847521"/>
              <a:ext cx="156324" cy="163342"/>
            </a:xfrm>
            <a:prstGeom prst="rtTriangle">
              <a:avLst/>
            </a:prstGeom>
            <a:solidFill>
              <a:srgbClr val="01B0F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24272"/>
              <a:endParaRPr lang="ko-KR" altLang="en-US" sz="2708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itchFamily="2" charset="-127"/>
                <a:ea typeface="KoPub돋움체 Bold" pitchFamily="2" charset="-127"/>
              </a:endParaRPr>
            </a:p>
          </p:txBody>
        </p:sp>
      </p:grpSp>
      <p:sp>
        <p:nvSpPr>
          <p:cNvPr id="17" name="Rectangle 760">
            <a:extLst>
              <a:ext uri="{FF2B5EF4-FFF2-40B4-BE49-F238E27FC236}">
                <a16:creationId xmlns:a16="http://schemas.microsoft.com/office/drawing/2014/main" id="{492D195E-824C-2483-A35E-3CA1B0F5AA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4" y="1260417"/>
            <a:ext cx="2223458" cy="20540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Description</a:t>
            </a:r>
          </a:p>
        </p:txBody>
      </p:sp>
      <p:sp>
        <p:nvSpPr>
          <p:cNvPr id="18" name="Rectangle 749">
            <a:extLst>
              <a:ext uri="{FF2B5EF4-FFF2-40B4-BE49-F238E27FC236}">
                <a16:creationId xmlns:a16="http://schemas.microsoft.com/office/drawing/2014/main" id="{F04D4A4D-407C-9388-4410-1E611FD71F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1510335"/>
            <a:ext cx="2223457" cy="504027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22" name="Rectangle 760">
            <a:extLst>
              <a:ext uri="{FF2B5EF4-FFF2-40B4-BE49-F238E27FC236}">
                <a16:creationId xmlns:a16="http://schemas.microsoft.com/office/drawing/2014/main" id="{C7C9F848-143F-7480-1715-CC49E2D7FA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6176" y="5842335"/>
            <a:ext cx="2223457" cy="2158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800" b="0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보완사항</a:t>
            </a:r>
            <a:endParaRPr lang="en-US" altLang="ko-KR" sz="800" b="0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9107E0-B158-C08F-7948-B89C32182F2E}"/>
              </a:ext>
            </a:extLst>
          </p:cNvPr>
          <p:cNvSpPr/>
          <p:nvPr userDrawn="1"/>
        </p:nvSpPr>
        <p:spPr>
          <a:xfrm>
            <a:off x="1014773" y="59880"/>
            <a:ext cx="276283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서비스 화면설계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00FFC3-A530-8F8C-8315-269E6B810E71}"/>
              </a:ext>
            </a:extLst>
          </p:cNvPr>
          <p:cNvSpPr/>
          <p:nvPr userDrawn="1"/>
        </p:nvSpPr>
        <p:spPr>
          <a:xfrm>
            <a:off x="206569" y="62539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6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4.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991DAE6-B972-444E-98F3-AF9FF01A5EA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01919064"/>
              </p:ext>
            </p:extLst>
          </p:nvPr>
        </p:nvGraphicFramePr>
        <p:xfrm>
          <a:off x="97661" y="718635"/>
          <a:ext cx="11981972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67">
                  <a:extLst>
                    <a:ext uri="{9D8B030D-6E8A-4147-A177-3AD203B41FA5}">
                      <a16:colId xmlns:a16="http://schemas.microsoft.com/office/drawing/2014/main" val="3049824010"/>
                    </a:ext>
                  </a:extLst>
                </a:gridCol>
                <a:gridCol w="3528203">
                  <a:extLst>
                    <a:ext uri="{9D8B030D-6E8A-4147-A177-3AD203B41FA5}">
                      <a16:colId xmlns:a16="http://schemas.microsoft.com/office/drawing/2014/main" val="856974802"/>
                    </a:ext>
                  </a:extLst>
                </a:gridCol>
                <a:gridCol w="534838">
                  <a:extLst>
                    <a:ext uri="{9D8B030D-6E8A-4147-A177-3AD203B41FA5}">
                      <a16:colId xmlns:a16="http://schemas.microsoft.com/office/drawing/2014/main" val="3566724404"/>
                    </a:ext>
                  </a:extLst>
                </a:gridCol>
                <a:gridCol w="753150">
                  <a:extLst>
                    <a:ext uri="{9D8B030D-6E8A-4147-A177-3AD203B41FA5}">
                      <a16:colId xmlns:a16="http://schemas.microsoft.com/office/drawing/2014/main" val="2867092123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화면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 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유스케이스</a:t>
                      </a: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작성일</a:t>
                      </a:r>
                      <a:endParaRPr kumimoji="1" lang="en-US" altLang="ko-KR" sz="7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F9C68955-B323-E9DE-40B7-B8E71913031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7708658"/>
              </p:ext>
            </p:extLst>
          </p:nvPr>
        </p:nvGraphicFramePr>
        <p:xfrm>
          <a:off x="97662" y="967379"/>
          <a:ext cx="11981970" cy="216024"/>
        </p:xfrm>
        <a:graphic>
          <a:graphicData uri="http://schemas.openxmlformats.org/drawingml/2006/table">
            <a:tbl>
              <a:tblPr/>
              <a:tblGrid>
                <a:gridCol w="1009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2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464">
                  <a:extLst>
                    <a:ext uri="{9D8B030D-6E8A-4147-A177-3AD203B41FA5}">
                      <a16:colId xmlns:a16="http://schemas.microsoft.com/office/drawing/2014/main" val="2361301055"/>
                    </a:ext>
                  </a:extLst>
                </a:gridCol>
                <a:gridCol w="753149">
                  <a:extLst>
                    <a:ext uri="{9D8B030D-6E8A-4147-A177-3AD203B41FA5}">
                      <a16:colId xmlns:a16="http://schemas.microsoft.com/office/drawing/2014/main" val="161730016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요구사항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793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인터페이스 </a:t>
                      </a:r>
                      <a:r>
                        <a:rPr kumimoji="1" lang="en-US" altLang="ko-KR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</a:rPr>
                        <a:t>ID</a:t>
                      </a: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7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작성자</a:t>
                      </a:r>
                      <a:endParaRPr kumimoji="1" lang="ko-KR" altLang="ko-KR" sz="7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ko-KR" sz="7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463" marR="88463" marT="34593" marB="34593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Rectangle 749">
            <a:extLst>
              <a:ext uri="{FF2B5EF4-FFF2-40B4-BE49-F238E27FC236}">
                <a16:creationId xmlns:a16="http://schemas.microsoft.com/office/drawing/2014/main" id="{D712DC41-5CFA-0945-1520-644ED5D379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369" y="1260417"/>
            <a:ext cx="9706335" cy="529018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 sz="1108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9810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246735" y="692069"/>
            <a:ext cx="11699081" cy="5761268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</a:pPr>
            <a:endParaRPr lang="ko-KR" altLang="en-US" sz="172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4715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46685D1-2FF2-A943-7D10-18D01CD59D22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7908" y="441601"/>
            <a:ext cx="1109409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hlinkClick r:id="" action="ppaction://noaction"/>
            <a:extLst>
              <a:ext uri="{FF2B5EF4-FFF2-40B4-BE49-F238E27FC236}">
                <a16:creationId xmlns:a16="http://schemas.microsoft.com/office/drawing/2014/main" id="{9EA2EE1F-2ACA-026A-8B15-83F158B5B1DA}"/>
              </a:ext>
            </a:extLst>
          </p:cNvPr>
          <p:cNvSpPr txBox="1"/>
          <p:nvPr userDrawn="1"/>
        </p:nvSpPr>
        <p:spPr>
          <a:xfrm>
            <a:off x="9491980" y="394506"/>
            <a:ext cx="2508825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algn="ctr" defTabSz="1024401">
              <a:buClr>
                <a:sysClr val="windowText" lastClr="000000"/>
              </a:buClr>
              <a:tabLst>
                <a:tab pos="6035379" algn="l"/>
              </a:tabLst>
              <a:defRPr/>
            </a:pPr>
            <a:r>
              <a:rPr lang="ko-KR" altLang="en-US" sz="738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디지털트윈기반 도시침수 스마트 대응시스템 구축 고도화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18E99CB-2E9F-F766-EC8B-48462AEE6153}"/>
              </a:ext>
            </a:extLst>
          </p:cNvPr>
          <p:cNvSpPr/>
          <p:nvPr userDrawn="1"/>
        </p:nvSpPr>
        <p:spPr>
          <a:xfrm>
            <a:off x="9551156" y="409818"/>
            <a:ext cx="41465" cy="414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02" tIns="44902" rIns="89802" bIns="44902" rtlCol="0" anchor="ctr"/>
          <a:lstStyle/>
          <a:p>
            <a:pPr algn="ctr" defTabSz="1024272"/>
            <a:endParaRPr lang="ko-KR" altLang="en-US" sz="2092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0830263-8EF1-4E1C-2F64-844978644877}"/>
              </a:ext>
            </a:extLst>
          </p:cNvPr>
          <p:cNvSpPr/>
          <p:nvPr userDrawn="1"/>
        </p:nvSpPr>
        <p:spPr>
          <a:xfrm>
            <a:off x="11903800" y="409818"/>
            <a:ext cx="41465" cy="414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02" tIns="44902" rIns="89802" bIns="44902" rtlCol="0" anchor="ctr"/>
          <a:lstStyle/>
          <a:p>
            <a:pPr algn="ctr" defTabSz="1024272"/>
            <a:endParaRPr lang="ko-KR" altLang="en-US" sz="2092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17C263-40CA-7D2B-6029-EC9453942085}"/>
              </a:ext>
            </a:extLst>
          </p:cNvPr>
          <p:cNvSpPr/>
          <p:nvPr userDrawn="1"/>
        </p:nvSpPr>
        <p:spPr>
          <a:xfrm>
            <a:off x="246735" y="552609"/>
            <a:ext cx="11699081" cy="5900728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</a:pPr>
            <a:endParaRPr lang="ko-KR" altLang="en-US" sz="172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28">
            <a:extLst>
              <a:ext uri="{FF2B5EF4-FFF2-40B4-BE49-F238E27FC236}">
                <a16:creationId xmlns:a16="http://schemas.microsoft.com/office/drawing/2014/main" id="{DE1CCE4A-0BFB-B14C-1FBC-EEAC607EE83C}"/>
              </a:ext>
            </a:extLst>
          </p:cNvPr>
          <p:cNvGrpSpPr/>
          <p:nvPr userDrawn="1"/>
        </p:nvGrpSpPr>
        <p:grpSpPr>
          <a:xfrm>
            <a:off x="135135" y="20642"/>
            <a:ext cx="497947" cy="401160"/>
            <a:chOff x="-1" y="0"/>
            <a:chExt cx="1048277" cy="1048031"/>
          </a:xfrm>
        </p:grpSpPr>
        <p:sp>
          <p:nvSpPr>
            <p:cNvPr id="14" name="한쪽 모서리가 둥근 사각형 18">
              <a:extLst>
                <a:ext uri="{FF2B5EF4-FFF2-40B4-BE49-F238E27FC236}">
                  <a16:creationId xmlns:a16="http://schemas.microsoft.com/office/drawing/2014/main" id="{BD987353-B972-387E-A12A-AC6BF0F274E1}"/>
                </a:ext>
              </a:extLst>
            </p:cNvPr>
            <p:cNvSpPr/>
            <p:nvPr/>
          </p:nvSpPr>
          <p:spPr>
            <a:xfrm rot="5400000">
              <a:off x="122" y="-123"/>
              <a:ext cx="1048031" cy="1048277"/>
            </a:xfrm>
            <a:prstGeom prst="round1Rect">
              <a:avLst>
                <a:gd name="adj" fmla="val 0"/>
              </a:avLst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defTabSz="1024272"/>
              <a:endParaRPr lang="ko-KR" altLang="en-US" sz="2092" b="1" dirty="0">
                <a:ln w="12700">
                  <a:solidFill>
                    <a:srgbClr val="4F81BD">
                      <a:shade val="50000"/>
                      <a:alpha val="0"/>
                    </a:srgbClr>
                  </a:solidFill>
                  <a:prstDash val="solid"/>
                </a:ln>
                <a:solidFill>
                  <a:srgbClr val="EEECE1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4B1F2B9-4203-D757-99D7-9D7C01199F01}"/>
                </a:ext>
              </a:extLst>
            </p:cNvPr>
            <p:cNvSpPr/>
            <p:nvPr/>
          </p:nvSpPr>
          <p:spPr bwMode="auto">
            <a:xfrm flipH="1">
              <a:off x="847743" y="847521"/>
              <a:ext cx="156324" cy="163342"/>
            </a:xfrm>
            <a:prstGeom prst="rtTriangle">
              <a:avLst/>
            </a:prstGeom>
            <a:solidFill>
              <a:srgbClr val="01B0F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24272"/>
              <a:endParaRPr lang="ko-KR" altLang="en-US" sz="2708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itchFamily="2" charset="-127"/>
                <a:ea typeface="KoPub돋움체 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73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5">
            <a:extLst>
              <a:ext uri="{FF2B5EF4-FFF2-40B4-BE49-F238E27FC236}">
                <a16:creationId xmlns:a16="http://schemas.microsoft.com/office/drawing/2014/main" id="{6022E41D-3A5C-C66C-F4B8-EB1107A1AE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08096" y="6618684"/>
            <a:ext cx="581068" cy="1585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81835" tIns="40918" rIns="81835" bIns="40918" anchor="ctr"/>
          <a:lstStyle>
            <a:defPPr>
              <a:defRPr lang="ko-KR"/>
            </a:defPPr>
            <a:lvl1pPr marL="0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7192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4382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51574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766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85957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03148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339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37531" algn="l" defTabSz="1234382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18732"/>
            <a:fld id="{E1BC3130-B1B8-446F-8125-38175A76AB08}" type="slidenum">
              <a:rPr lang="en-US" altLang="ko-KR" sz="800" b="1" u="none" smtClean="0">
                <a:ln>
                  <a:solidFill>
                    <a:schemeClr val="tx1">
                      <a:alpha val="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defTabSz="818732"/>
              <a:t>‹#›</a:t>
            </a:fld>
            <a:endParaRPr lang="en-US" altLang="ko-KR" sz="800" b="1" u="none" dirty="0">
              <a:ln>
                <a:solidFill>
                  <a:schemeClr val="tx1">
                    <a:alpha val="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009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8" r:id="rId3"/>
    <p:sldLayoutId id="2147483690" r:id="rId4"/>
    <p:sldLayoutId id="2147483689" r:id="rId5"/>
    <p:sldLayoutId id="2147483687" r:id="rId6"/>
    <p:sldLayoutId id="2147483679" r:id="rId7"/>
    <p:sldLayoutId id="2147483685" r:id="rId8"/>
  </p:sldLayoutIdLst>
  <p:txStyles>
    <p:titleStyle>
      <a:lvl1pPr algn="ctr" defTabSz="1024319" rtl="0" eaLnBrk="1" latinLnBrk="1" hangingPunct="1">
        <a:spcBef>
          <a:spcPct val="0"/>
        </a:spcBef>
        <a:buNone/>
        <a:defRPr sz="49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18" indent="-384118" algn="l" defTabSz="1024319" rtl="0" eaLnBrk="1" latinLnBrk="1" hangingPunct="1">
        <a:spcBef>
          <a:spcPct val="20000"/>
        </a:spcBef>
        <a:buFont typeface="Arial" panose="020B0604020202020204" pitchFamily="34" charset="0"/>
        <a:buChar char="•"/>
        <a:defRPr sz="3692" kern="1200">
          <a:solidFill>
            <a:schemeClr val="tx1"/>
          </a:solidFill>
          <a:latin typeface="+mn-lt"/>
          <a:ea typeface="+mn-ea"/>
          <a:cs typeface="+mn-cs"/>
        </a:defRPr>
      </a:lvl1pPr>
      <a:lvl2pPr marL="832262" indent="-320098" algn="l" defTabSz="1024319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399" indent="-256081" algn="l" defTabSz="10243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8" kern="1200">
          <a:solidFill>
            <a:schemeClr val="tx1"/>
          </a:solidFill>
          <a:latin typeface="+mn-lt"/>
          <a:ea typeface="+mn-ea"/>
          <a:cs typeface="+mn-cs"/>
        </a:defRPr>
      </a:lvl3pPr>
      <a:lvl4pPr marL="1792558" indent="-256081" algn="l" defTabSz="1024319" rtl="0" eaLnBrk="1" latinLnBrk="1" hangingPunct="1">
        <a:spcBef>
          <a:spcPct val="20000"/>
        </a:spcBef>
        <a:buFont typeface="Arial" panose="020B0604020202020204" pitchFamily="34" charset="0"/>
        <a:buChar char="–"/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304720" indent="-256081" algn="l" defTabSz="1024319" rtl="0" eaLnBrk="1" latinLnBrk="1" hangingPunct="1">
        <a:spcBef>
          <a:spcPct val="20000"/>
        </a:spcBef>
        <a:buFont typeface="Arial" panose="020B0604020202020204" pitchFamily="34" charset="0"/>
        <a:buChar char="»"/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6875" indent="-256081" algn="l" defTabSz="10243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29038" indent="-256081" algn="l" defTabSz="10243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841198" indent="-256081" algn="l" defTabSz="10243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353356" indent="-256081" algn="l" defTabSz="10243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1pPr>
      <a:lvl2pPr marL="512159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2pPr>
      <a:lvl3pPr marL="1024319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3pPr>
      <a:lvl4pPr marL="1536479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4pPr>
      <a:lvl5pPr marL="2048640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5pPr>
      <a:lvl6pPr marL="2560799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6pPr>
      <a:lvl7pPr marL="3072956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7pPr>
      <a:lvl8pPr marL="3585117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8pPr>
      <a:lvl9pPr marL="4097277" algn="l" defTabSz="1024319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" y="-727748"/>
            <a:ext cx="227347" cy="43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12542" tIns="56271" rIns="112542" bIns="56271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2092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" y="-727748"/>
            <a:ext cx="227347" cy="43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12542" tIns="56271" rIns="112542" bIns="56271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2092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" y="-727748"/>
            <a:ext cx="227347" cy="43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12542" tIns="56271" rIns="112542" bIns="56271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2092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_x226514896" descr="EMB00002e2401a3"/>
          <p:cNvPicPr preferRelativeResize="0">
            <a:picLocks noChangeArrowheads="1"/>
          </p:cNvPicPr>
          <p:nvPr/>
        </p:nvPicPr>
        <p:blipFill>
          <a:blip r:embed="rId2" cstate="print">
            <a:lum bright="10000"/>
          </a:blip>
          <a:srcRect/>
          <a:stretch>
            <a:fillRect/>
          </a:stretch>
        </p:blipFill>
        <p:spPr bwMode="auto">
          <a:xfrm>
            <a:off x="8809" y="3474077"/>
            <a:ext cx="12192000" cy="88615"/>
          </a:xfrm>
          <a:prstGeom prst="rect">
            <a:avLst/>
          </a:prstGeom>
          <a:noFill/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103447" y="1465979"/>
            <a:ext cx="10655829" cy="729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12542" tIns="56271" rIns="112542" bIns="56271" numCol="1" anchor="ctr" anchorCtr="0" compatLnSpc="1">
            <a:prstTxWarp prst="textNoShape">
              <a:avLst/>
            </a:prstTxWarp>
            <a:spAutoFit/>
          </a:bodyPr>
          <a:lstStyle/>
          <a:p>
            <a:pPr algn="r" defTabSz="1125444" fontAlgn="base">
              <a:spcBef>
                <a:spcPct val="0"/>
              </a:spcBef>
              <a:spcAft>
                <a:spcPct val="0"/>
              </a:spcAft>
            </a:pPr>
            <a:r>
              <a:rPr kumimoji="1" lang="en" altLang="ko-KR" sz="20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  <a:cs typeface="굴림" pitchFamily="50" charset="-127"/>
              </a:rPr>
              <a:t>AI</a:t>
            </a:r>
            <a:r>
              <a:rPr kumimoji="1" lang="ko-KR" altLang="en-US" sz="20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  <a:cs typeface="굴림" pitchFamily="50" charset="-127"/>
              </a:rPr>
              <a:t>기반 위성정보 활용 서비스 확산사업</a:t>
            </a:r>
            <a:endParaRPr kumimoji="1" lang="en-US" altLang="ko-KR" sz="2000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  <a:cs typeface="굴림" pitchFamily="50" charset="-127"/>
            </a:endParaRPr>
          </a:p>
          <a:p>
            <a:pPr algn="r" defTabSz="1125444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20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  <a:cs typeface="굴림" pitchFamily="50" charset="-127"/>
              </a:rPr>
              <a:t>위성영상 기반 지반 변위 위험지역 분석</a:t>
            </a:r>
            <a:endParaRPr kumimoji="1" lang="ko-KR" altLang="en-US" sz="2000" dirty="0">
              <a:latin typeface="HY헤드라인M" pitchFamily="18" charset="-127"/>
              <a:ea typeface="HY헤드라인M" pitchFamily="18" charset="-127"/>
              <a:cs typeface="굴림" pitchFamily="50" charset="-127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103447" y="2675774"/>
            <a:ext cx="10655829" cy="643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12542" tIns="56271" rIns="112542" bIns="56271" numCol="1" anchor="ctr" anchorCtr="0" compatLnSpc="1">
            <a:prstTxWarp prst="textNoShape">
              <a:avLst/>
            </a:prstTxWarp>
            <a:spAutoFit/>
          </a:bodyPr>
          <a:lstStyle/>
          <a:p>
            <a:pPr algn="r" defTabSz="1125444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3446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  <a:cs typeface="굴림" pitchFamily="50" charset="-127"/>
              </a:rPr>
              <a:t>화면정의서</a:t>
            </a:r>
            <a:endParaRPr kumimoji="1" lang="ko-KR" altLang="en-US" sz="2215" dirty="0">
              <a:solidFill>
                <a:srgbClr val="0070C0"/>
              </a:solidFill>
              <a:latin typeface="HY헤드라인M" pitchFamily="18" charset="-127"/>
              <a:ea typeface="HY헤드라인M" pitchFamily="18" charset="-127"/>
              <a:cs typeface="굴림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663275" y="4020851"/>
            <a:ext cx="6096000" cy="6983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fontAlgn="base" latinLnBrk="0"/>
            <a:r>
              <a:rPr lang="ko-KR" altLang="en-US" sz="1969" dirty="0">
                <a:latin typeface="HY헤드라인M" pitchFamily="18" charset="-127"/>
                <a:ea typeface="HY헤드라인M" pitchFamily="18" charset="-127"/>
              </a:rPr>
              <a:t>지반침하 스마트관리 시스템</a:t>
            </a:r>
            <a:endParaRPr lang="en-US" altLang="ko-KR" sz="1969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3986" y="-281755"/>
            <a:ext cx="227347" cy="435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12542" tIns="56271" rIns="112542" bIns="56271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2092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51099" y="-201417"/>
            <a:ext cx="227347" cy="435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12542" tIns="56271" rIns="112542" bIns="56271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2092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_x400593264" descr="EMB0000062446d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24" y="297733"/>
            <a:ext cx="2178929" cy="18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표 17">
            <a:extLst>
              <a:ext uri="{FF2B5EF4-FFF2-40B4-BE49-F238E27FC236}">
                <a16:creationId xmlns:a16="http://schemas.microsoft.com/office/drawing/2014/main" id="{A3088DDF-8A49-40AB-86FC-89CC1153A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673449"/>
              </p:ext>
            </p:extLst>
          </p:nvPr>
        </p:nvGraphicFramePr>
        <p:xfrm>
          <a:off x="9356737" y="153834"/>
          <a:ext cx="2271721" cy="774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721">
                  <a:extLst>
                    <a:ext uri="{9D8B030D-6E8A-4147-A177-3AD203B41FA5}">
                      <a16:colId xmlns:a16="http://schemas.microsoft.com/office/drawing/2014/main" val="2432478687"/>
                    </a:ext>
                  </a:extLst>
                </a:gridCol>
              </a:tblGrid>
              <a:tr h="343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버전</a:t>
                      </a:r>
                    </a:p>
                  </a:txBody>
                  <a:tcPr marL="112542" marR="112542" marT="56271" marB="5627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133911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pPr algn="ctr" latinLnBrk="1"/>
                      <a:r>
                        <a:rPr dirty="0"/>
                        <a:t>V1.0</a:t>
                      </a:r>
                      <a:endParaRPr lang="ko-KR" altLang="en-US" sz="1500" b="0" kern="1200" dirty="0">
                        <a:solidFill>
                          <a:schemeClr val="tx1"/>
                        </a:solidFill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112542" marR="112542" marT="56271" marB="5627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584889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90DAC85-6AF1-46C0-900E-692C53C158D6}"/>
              </a:ext>
            </a:extLst>
          </p:cNvPr>
          <p:cNvSpPr txBox="1">
            <a:spLocks/>
          </p:cNvSpPr>
          <p:nvPr/>
        </p:nvSpPr>
        <p:spPr>
          <a:xfrm>
            <a:off x="7314452" y="451419"/>
            <a:ext cx="2002090" cy="344818"/>
          </a:xfrm>
          <a:prstGeom prst="rect">
            <a:avLst/>
          </a:prstGeom>
        </p:spPr>
        <p:txBody>
          <a:bodyPr vert="horz" lIns="112542" tIns="56271" rIns="112542" bIns="56271" rtlCol="0" anchor="ctr" anchorCtr="0">
            <a:noAutofit/>
          </a:bodyPr>
          <a:lstStyle>
            <a:defPPr>
              <a:defRPr lang="ko-KR"/>
            </a:defPPr>
            <a:lvl1pPr marL="0" indent="0" algn="ctr" defTabSz="914400" rtl="0" eaLnBrk="1" latinLnBrk="1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477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01">
            <a:extLst>
              <a:ext uri="{FF2B5EF4-FFF2-40B4-BE49-F238E27FC236}">
                <a16:creationId xmlns:a16="http://schemas.microsoft.com/office/drawing/2014/main" id="{C1C262B3-896E-4288-A751-A64A0E74A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075103"/>
              </p:ext>
            </p:extLst>
          </p:nvPr>
        </p:nvGraphicFramePr>
        <p:xfrm>
          <a:off x="351134" y="209940"/>
          <a:ext cx="11252201" cy="4098777"/>
        </p:xfrm>
        <a:graphic>
          <a:graphicData uri="http://schemas.openxmlformats.org/drawingml/2006/table">
            <a:tbl>
              <a:tblPr/>
              <a:tblGrid>
                <a:gridCol w="1103924">
                  <a:extLst>
                    <a:ext uri="{9D8B030D-6E8A-4147-A177-3AD203B41FA5}">
                      <a16:colId xmlns:a16="http://schemas.microsoft.com/office/drawing/2014/main" val="1288477877"/>
                    </a:ext>
                  </a:extLst>
                </a:gridCol>
                <a:gridCol w="1707662">
                  <a:extLst>
                    <a:ext uri="{9D8B030D-6E8A-4147-A177-3AD203B41FA5}">
                      <a16:colId xmlns:a16="http://schemas.microsoft.com/office/drawing/2014/main" val="4287076331"/>
                    </a:ext>
                  </a:extLst>
                </a:gridCol>
                <a:gridCol w="6564923">
                  <a:extLst>
                    <a:ext uri="{9D8B030D-6E8A-4147-A177-3AD203B41FA5}">
                      <a16:colId xmlns:a16="http://schemas.microsoft.com/office/drawing/2014/main" val="95321672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14302648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363685301"/>
                    </a:ext>
                  </a:extLst>
                </a:gridCol>
              </a:tblGrid>
              <a:tr h="487680">
                <a:tc gridSpan="5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개정이력</a:t>
                      </a:r>
                      <a:endParaRPr kumimoji="1" lang="ko-KR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279554"/>
                  </a:ext>
                </a:extLst>
              </a:tr>
              <a:tr h="300111">
                <a:tc gridSpan="5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709172"/>
                  </a:ext>
                </a:extLst>
              </a:tr>
              <a:tr h="32043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버전</a:t>
                      </a:r>
                      <a:endParaRPr kumimoji="1" lang="ko-KR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개정일자</a:t>
                      </a:r>
                      <a:endParaRPr kumimoji="1" lang="ko-KR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개정내용</a:t>
                      </a:r>
                      <a:endParaRPr kumimoji="1" lang="ko-KR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작성자</a:t>
                      </a:r>
                      <a:endParaRPr kumimoji="1" lang="ko-KR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승인자</a:t>
                      </a:r>
                      <a:endParaRPr kumimoji="1" lang="ko-KR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492784"/>
                  </a:ext>
                </a:extLst>
              </a:tr>
              <a:tr h="31261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1.0</a:t>
                      </a: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2026-10-19</a:t>
                      </a: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최초 작성</a:t>
                      </a: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(주)이노팸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-</a:t>
                      </a: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623179"/>
                  </a:ext>
                </a:extLst>
              </a:tr>
              <a:tr h="31261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736670"/>
                  </a:ext>
                </a:extLst>
              </a:tr>
              <a:tr h="31261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077875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676242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4195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355645"/>
                  </a:ext>
                </a:extLst>
              </a:tr>
              <a:tr h="31261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801722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336886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112542" marR="112542" marT="56271" marB="562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87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35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401875"/>
            <a:ext cx="310154" cy="1772308"/>
          </a:xfrm>
          <a:prstGeom prst="rect">
            <a:avLst/>
          </a:prstGeom>
          <a:solidFill>
            <a:srgbClr val="09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92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82531" y="675816"/>
            <a:ext cx="4861340" cy="1165160"/>
            <a:chOff x="1" y="378584"/>
            <a:chExt cx="3749516" cy="946692"/>
          </a:xfrm>
        </p:grpSpPr>
        <p:sp>
          <p:nvSpPr>
            <p:cNvPr id="4" name="직사각형 3"/>
            <p:cNvSpPr/>
            <p:nvPr/>
          </p:nvSpPr>
          <p:spPr>
            <a:xfrm>
              <a:off x="920103" y="1017483"/>
              <a:ext cx="2829414" cy="307793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ko-KR" altLang="en-US" sz="1231" b="1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위성영상 기반 지반 변위 위험지역 분석</a:t>
              </a:r>
              <a:endParaRPr lang="en-US" altLang="ko-KR" sz="1231" b="1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  <a:p>
              <a:pPr>
                <a:defRPr/>
              </a:pPr>
              <a:r>
                <a:rPr lang="ko-KR" altLang="en-US" sz="1231" b="1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 </a:t>
              </a:r>
              <a:r>
                <a:rPr lang="en-US" altLang="ko-KR" sz="1231" b="1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-</a:t>
              </a:r>
              <a:r>
                <a:rPr lang="ko-KR" altLang="en-US" sz="1231" b="1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 지반침하 스마트관리 시스템</a:t>
              </a: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895915" y="684368"/>
              <a:ext cx="1540387" cy="36937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b" anchorCtr="0">
              <a:spAutoFit/>
            </a:bodyPr>
            <a:lstStyle/>
            <a:p>
              <a:r>
                <a:rPr lang="en-US" altLang="ko-KR" sz="2954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CONTENTS</a:t>
              </a:r>
              <a:endParaRPr lang="ko-KR" altLang="en-US" sz="2954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6" name="Freeform 166"/>
            <p:cNvSpPr>
              <a:spLocks noEditPoints="1"/>
            </p:cNvSpPr>
            <p:nvPr/>
          </p:nvSpPr>
          <p:spPr bwMode="auto">
            <a:xfrm>
              <a:off x="1" y="378584"/>
              <a:ext cx="761999" cy="875831"/>
            </a:xfrm>
            <a:custGeom>
              <a:avLst/>
              <a:gdLst>
                <a:gd name="T0" fmla="*/ 56 w 89"/>
                <a:gd name="T1" fmla="*/ 20 h 106"/>
                <a:gd name="T2" fmla="*/ 20 w 89"/>
                <a:gd name="T3" fmla="*/ 20 h 106"/>
                <a:gd name="T4" fmla="*/ 20 w 89"/>
                <a:gd name="T5" fmla="*/ 14 h 106"/>
                <a:gd name="T6" fmla="*/ 7 w 89"/>
                <a:gd name="T7" fmla="*/ 29 h 106"/>
                <a:gd name="T8" fmla="*/ 7 w 89"/>
                <a:gd name="T9" fmla="*/ 71 h 106"/>
                <a:gd name="T10" fmla="*/ 25 w 89"/>
                <a:gd name="T11" fmla="*/ 89 h 106"/>
                <a:gd name="T12" fmla="*/ 29 w 89"/>
                <a:gd name="T13" fmla="*/ 89 h 106"/>
                <a:gd name="T14" fmla="*/ 29 w 89"/>
                <a:gd name="T15" fmla="*/ 95 h 106"/>
                <a:gd name="T16" fmla="*/ 20 w 89"/>
                <a:gd name="T17" fmla="*/ 95 h 106"/>
                <a:gd name="T18" fmla="*/ 0 w 89"/>
                <a:gd name="T19" fmla="*/ 75 h 106"/>
                <a:gd name="T20" fmla="*/ 0 w 89"/>
                <a:gd name="T21" fmla="*/ 26 h 106"/>
                <a:gd name="T22" fmla="*/ 20 w 89"/>
                <a:gd name="T23" fmla="*/ 7 h 106"/>
                <a:gd name="T24" fmla="*/ 20 w 89"/>
                <a:gd name="T25" fmla="*/ 0 h 106"/>
                <a:gd name="T26" fmla="*/ 56 w 89"/>
                <a:gd name="T27" fmla="*/ 0 h 106"/>
                <a:gd name="T28" fmla="*/ 56 w 89"/>
                <a:gd name="T29" fmla="*/ 7 h 106"/>
                <a:gd name="T30" fmla="*/ 76 w 89"/>
                <a:gd name="T31" fmla="*/ 26 h 106"/>
                <a:gd name="T32" fmla="*/ 76 w 89"/>
                <a:gd name="T33" fmla="*/ 37 h 106"/>
                <a:gd name="T34" fmla="*/ 69 w 89"/>
                <a:gd name="T35" fmla="*/ 37 h 106"/>
                <a:gd name="T36" fmla="*/ 69 w 89"/>
                <a:gd name="T37" fmla="*/ 29 h 106"/>
                <a:gd name="T38" fmla="*/ 56 w 89"/>
                <a:gd name="T39" fmla="*/ 14 h 106"/>
                <a:gd name="T40" fmla="*/ 56 w 89"/>
                <a:gd name="T41" fmla="*/ 20 h 106"/>
                <a:gd name="T42" fmla="*/ 84 w 89"/>
                <a:gd name="T43" fmla="*/ 85 h 106"/>
                <a:gd name="T44" fmla="*/ 69 w 89"/>
                <a:gd name="T45" fmla="*/ 85 h 106"/>
                <a:gd name="T46" fmla="*/ 69 w 89"/>
                <a:gd name="T47" fmla="*/ 101 h 106"/>
                <a:gd name="T48" fmla="*/ 84 w 89"/>
                <a:gd name="T49" fmla="*/ 85 h 106"/>
                <a:gd name="T50" fmla="*/ 69 w 89"/>
                <a:gd name="T51" fmla="*/ 106 h 106"/>
                <a:gd name="T52" fmla="*/ 48 w 89"/>
                <a:gd name="T53" fmla="*/ 106 h 106"/>
                <a:gd name="T54" fmla="*/ 34 w 89"/>
                <a:gd name="T55" fmla="*/ 91 h 106"/>
                <a:gd name="T56" fmla="*/ 34 w 89"/>
                <a:gd name="T57" fmla="*/ 56 h 106"/>
                <a:gd name="T58" fmla="*/ 48 w 89"/>
                <a:gd name="T59" fmla="*/ 42 h 106"/>
                <a:gd name="T60" fmla="*/ 75 w 89"/>
                <a:gd name="T61" fmla="*/ 42 h 106"/>
                <a:gd name="T62" fmla="*/ 89 w 89"/>
                <a:gd name="T63" fmla="*/ 56 h 106"/>
                <a:gd name="T64" fmla="*/ 89 w 89"/>
                <a:gd name="T65" fmla="*/ 85 h 106"/>
                <a:gd name="T66" fmla="*/ 69 w 89"/>
                <a:gd name="T67" fmla="*/ 106 h 106"/>
                <a:gd name="T68" fmla="*/ 48 w 89"/>
                <a:gd name="T69" fmla="*/ 46 h 106"/>
                <a:gd name="T70" fmla="*/ 39 w 89"/>
                <a:gd name="T71" fmla="*/ 57 h 106"/>
                <a:gd name="T72" fmla="*/ 39 w 89"/>
                <a:gd name="T73" fmla="*/ 88 h 106"/>
                <a:gd name="T74" fmla="*/ 52 w 89"/>
                <a:gd name="T75" fmla="*/ 101 h 106"/>
                <a:gd name="T76" fmla="*/ 66 w 89"/>
                <a:gd name="T77" fmla="*/ 101 h 106"/>
                <a:gd name="T78" fmla="*/ 66 w 89"/>
                <a:gd name="T79" fmla="*/ 84 h 106"/>
                <a:gd name="T80" fmla="*/ 68 w 89"/>
                <a:gd name="T81" fmla="*/ 83 h 106"/>
                <a:gd name="T82" fmla="*/ 84 w 89"/>
                <a:gd name="T83" fmla="*/ 83 h 106"/>
                <a:gd name="T84" fmla="*/ 84 w 89"/>
                <a:gd name="T85" fmla="*/ 57 h 106"/>
                <a:gd name="T86" fmla="*/ 75 w 89"/>
                <a:gd name="T87" fmla="*/ 46 h 106"/>
                <a:gd name="T88" fmla="*/ 48 w 89"/>
                <a:gd name="T89" fmla="*/ 46 h 106"/>
                <a:gd name="T90" fmla="*/ 50 w 89"/>
                <a:gd name="T91" fmla="*/ 77 h 106"/>
                <a:gd name="T92" fmla="*/ 72 w 89"/>
                <a:gd name="T93" fmla="*/ 77 h 106"/>
                <a:gd name="T94" fmla="*/ 72 w 89"/>
                <a:gd name="T95" fmla="*/ 73 h 106"/>
                <a:gd name="T96" fmla="*/ 50 w 89"/>
                <a:gd name="T97" fmla="*/ 73 h 106"/>
                <a:gd name="T98" fmla="*/ 50 w 89"/>
                <a:gd name="T99" fmla="*/ 77 h 106"/>
                <a:gd name="T100" fmla="*/ 50 w 89"/>
                <a:gd name="T101" fmla="*/ 58 h 106"/>
                <a:gd name="T102" fmla="*/ 72 w 89"/>
                <a:gd name="T103" fmla="*/ 58 h 106"/>
                <a:gd name="T104" fmla="*/ 72 w 89"/>
                <a:gd name="T105" fmla="*/ 54 h 106"/>
                <a:gd name="T106" fmla="*/ 50 w 89"/>
                <a:gd name="T107" fmla="*/ 54 h 106"/>
                <a:gd name="T108" fmla="*/ 50 w 89"/>
                <a:gd name="T109" fmla="*/ 58 h 106"/>
                <a:gd name="T110" fmla="*/ 50 w 89"/>
                <a:gd name="T111" fmla="*/ 68 h 106"/>
                <a:gd name="T112" fmla="*/ 72 w 89"/>
                <a:gd name="T113" fmla="*/ 68 h 106"/>
                <a:gd name="T114" fmla="*/ 72 w 89"/>
                <a:gd name="T115" fmla="*/ 64 h 106"/>
                <a:gd name="T116" fmla="*/ 50 w 89"/>
                <a:gd name="T117" fmla="*/ 64 h 106"/>
                <a:gd name="T118" fmla="*/ 50 w 89"/>
                <a:gd name="T11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9" h="106">
                  <a:moveTo>
                    <a:pt x="56" y="20"/>
                  </a:moveTo>
                  <a:cubicBezTo>
                    <a:pt x="20" y="20"/>
                    <a:pt x="20" y="20"/>
                    <a:pt x="20" y="20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2" y="14"/>
                    <a:pt x="7" y="20"/>
                    <a:pt x="7" y="29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82"/>
                    <a:pt x="12" y="89"/>
                    <a:pt x="25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29" y="91"/>
                    <a:pt x="29" y="93"/>
                    <a:pt x="29" y="95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9" y="95"/>
                    <a:pt x="0" y="86"/>
                    <a:pt x="0" y="7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6"/>
                    <a:pt x="9" y="7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6" y="6"/>
                    <a:pt x="76" y="8"/>
                    <a:pt x="76" y="26"/>
                  </a:cubicBezTo>
                  <a:cubicBezTo>
                    <a:pt x="76" y="37"/>
                    <a:pt x="76" y="37"/>
                    <a:pt x="76" y="37"/>
                  </a:cubicBezTo>
                  <a:cubicBezTo>
                    <a:pt x="74" y="37"/>
                    <a:pt x="71" y="37"/>
                    <a:pt x="69" y="37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69" y="19"/>
                    <a:pt x="65" y="14"/>
                    <a:pt x="56" y="14"/>
                  </a:cubicBezTo>
                  <a:cubicBezTo>
                    <a:pt x="56" y="20"/>
                    <a:pt x="56" y="20"/>
                    <a:pt x="56" y="20"/>
                  </a:cubicBezTo>
                  <a:close/>
                  <a:moveTo>
                    <a:pt x="84" y="85"/>
                  </a:moveTo>
                  <a:cubicBezTo>
                    <a:pt x="69" y="85"/>
                    <a:pt x="69" y="85"/>
                    <a:pt x="69" y="85"/>
                  </a:cubicBezTo>
                  <a:cubicBezTo>
                    <a:pt x="69" y="101"/>
                    <a:pt x="69" y="101"/>
                    <a:pt x="69" y="101"/>
                  </a:cubicBezTo>
                  <a:cubicBezTo>
                    <a:pt x="84" y="85"/>
                    <a:pt x="84" y="85"/>
                    <a:pt x="84" y="85"/>
                  </a:cubicBezTo>
                  <a:close/>
                  <a:moveTo>
                    <a:pt x="69" y="106"/>
                  </a:moveTo>
                  <a:cubicBezTo>
                    <a:pt x="48" y="106"/>
                    <a:pt x="48" y="106"/>
                    <a:pt x="48" y="106"/>
                  </a:cubicBezTo>
                  <a:cubicBezTo>
                    <a:pt x="40" y="106"/>
                    <a:pt x="34" y="99"/>
                    <a:pt x="34" y="91"/>
                  </a:cubicBezTo>
                  <a:cubicBezTo>
                    <a:pt x="34" y="56"/>
                    <a:pt x="34" y="56"/>
                    <a:pt x="34" y="56"/>
                  </a:cubicBezTo>
                  <a:cubicBezTo>
                    <a:pt x="34" y="48"/>
                    <a:pt x="40" y="42"/>
                    <a:pt x="48" y="42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82" y="42"/>
                    <a:pt x="89" y="48"/>
                    <a:pt x="89" y="56"/>
                  </a:cubicBezTo>
                  <a:cubicBezTo>
                    <a:pt x="89" y="85"/>
                    <a:pt x="89" y="85"/>
                    <a:pt x="89" y="85"/>
                  </a:cubicBezTo>
                  <a:cubicBezTo>
                    <a:pt x="69" y="106"/>
                    <a:pt x="69" y="106"/>
                    <a:pt x="69" y="106"/>
                  </a:cubicBezTo>
                  <a:close/>
                  <a:moveTo>
                    <a:pt x="48" y="46"/>
                  </a:moveTo>
                  <a:cubicBezTo>
                    <a:pt x="42" y="46"/>
                    <a:pt x="39" y="51"/>
                    <a:pt x="39" y="57"/>
                  </a:cubicBezTo>
                  <a:cubicBezTo>
                    <a:pt x="39" y="88"/>
                    <a:pt x="39" y="88"/>
                    <a:pt x="39" y="88"/>
                  </a:cubicBezTo>
                  <a:cubicBezTo>
                    <a:pt x="39" y="96"/>
                    <a:pt x="42" y="101"/>
                    <a:pt x="52" y="101"/>
                  </a:cubicBezTo>
                  <a:cubicBezTo>
                    <a:pt x="66" y="101"/>
                    <a:pt x="66" y="101"/>
                    <a:pt x="66" y="10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83"/>
                    <a:pt x="67" y="83"/>
                    <a:pt x="68" y="83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4" y="51"/>
                    <a:pt x="80" y="46"/>
                    <a:pt x="75" y="46"/>
                  </a:cubicBezTo>
                  <a:cubicBezTo>
                    <a:pt x="48" y="46"/>
                    <a:pt x="48" y="46"/>
                    <a:pt x="48" y="46"/>
                  </a:cubicBezTo>
                  <a:close/>
                  <a:moveTo>
                    <a:pt x="50" y="77"/>
                  </a:moveTo>
                  <a:cubicBezTo>
                    <a:pt x="72" y="77"/>
                    <a:pt x="72" y="77"/>
                    <a:pt x="72" y="77"/>
                  </a:cubicBezTo>
                  <a:cubicBezTo>
                    <a:pt x="75" y="77"/>
                    <a:pt x="75" y="73"/>
                    <a:pt x="72" y="73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8" y="73"/>
                    <a:pt x="48" y="77"/>
                    <a:pt x="50" y="77"/>
                  </a:cubicBezTo>
                  <a:close/>
                  <a:moveTo>
                    <a:pt x="50" y="58"/>
                  </a:moveTo>
                  <a:cubicBezTo>
                    <a:pt x="72" y="58"/>
                    <a:pt x="72" y="58"/>
                    <a:pt x="72" y="58"/>
                  </a:cubicBezTo>
                  <a:cubicBezTo>
                    <a:pt x="75" y="58"/>
                    <a:pt x="75" y="54"/>
                    <a:pt x="72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48" y="54"/>
                    <a:pt x="48" y="58"/>
                    <a:pt x="50" y="58"/>
                  </a:cubicBezTo>
                  <a:close/>
                  <a:moveTo>
                    <a:pt x="50" y="68"/>
                  </a:moveTo>
                  <a:cubicBezTo>
                    <a:pt x="72" y="68"/>
                    <a:pt x="72" y="68"/>
                    <a:pt x="72" y="68"/>
                  </a:cubicBezTo>
                  <a:cubicBezTo>
                    <a:pt x="75" y="68"/>
                    <a:pt x="75" y="64"/>
                    <a:pt x="72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48" y="64"/>
                    <a:pt x="48" y="68"/>
                    <a:pt x="50" y="68"/>
                  </a:cubicBezTo>
                  <a:close/>
                </a:path>
              </a:pathLst>
            </a:custGeom>
            <a:solidFill>
              <a:srgbClr val="09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92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7" name="직선 연결선 6"/>
          <p:cNvCxnSpPr/>
          <p:nvPr/>
        </p:nvCxnSpPr>
        <p:spPr>
          <a:xfrm>
            <a:off x="0" y="2174183"/>
            <a:ext cx="1730326" cy="0"/>
          </a:xfrm>
          <a:prstGeom prst="line">
            <a:avLst/>
          </a:prstGeom>
          <a:ln w="25400">
            <a:solidFill>
              <a:srgbClr val="09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624230" y="2612472"/>
            <a:ext cx="4848394" cy="3117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969132" latinLnBrk="0">
              <a:lnSpc>
                <a:spcPct val="150000"/>
              </a:lnSpc>
              <a:spcAft>
                <a:spcPts val="738"/>
              </a:spcAft>
            </a:pPr>
            <a:r>
              <a:rPr lang="en-US" altLang="ko-KR" sz="1969" b="1" dirty="0">
                <a:solidFill>
                  <a:srgbClr val="2D87C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0. 개요 작성 및 지침</a:t>
            </a:r>
          </a:p>
          <a:p>
            <a:pPr defTabSz="969132" latinLnBrk="0">
              <a:lnSpc>
                <a:spcPct val="150000"/>
              </a:lnSpc>
              <a:spcAft>
                <a:spcPts val="738"/>
              </a:spcAft>
            </a:pPr>
            <a:r>
              <a:rPr lang="en-US" altLang="ko-KR" sz="1969" b="1" dirty="0">
                <a:solidFill>
                  <a:srgbClr val="2D87C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1. 시스템 구성</a:t>
            </a:r>
          </a:p>
          <a:p>
            <a:pPr defTabSz="969132" latinLnBrk="0">
              <a:lnSpc>
                <a:spcPct val="150000"/>
              </a:lnSpc>
              <a:spcAft>
                <a:spcPts val="738"/>
              </a:spcAft>
            </a:pPr>
            <a:r>
              <a:rPr lang="en-US" altLang="ko-KR" sz="1969" b="1" dirty="0">
                <a:solidFill>
                  <a:srgbClr val="2D87C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2. 메뉴 구성</a:t>
            </a:r>
          </a:p>
          <a:p>
            <a:pPr defTabSz="969132" latinLnBrk="0">
              <a:lnSpc>
                <a:spcPct val="150000"/>
              </a:lnSpc>
              <a:spcAft>
                <a:spcPts val="738"/>
              </a:spcAft>
            </a:pPr>
            <a:r>
              <a:rPr lang="en-US" altLang="ko-KR" sz="1969" b="1" dirty="0">
                <a:solidFill>
                  <a:srgbClr val="2D87C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3. 업무 프로세스</a:t>
            </a:r>
          </a:p>
          <a:p>
            <a:pPr defTabSz="969132" latinLnBrk="0">
              <a:lnSpc>
                <a:spcPct val="150000"/>
              </a:lnSpc>
              <a:spcAft>
                <a:spcPts val="738"/>
              </a:spcAft>
            </a:pPr>
            <a:r>
              <a:rPr lang="en-US" altLang="ko-KR" sz="1969" b="1" dirty="0">
                <a:solidFill>
                  <a:srgbClr val="2D87C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4. 서비스 화면설계</a:t>
            </a:r>
          </a:p>
          <a:p>
            <a:pPr defTabSz="969132" latinLnBrk="0">
              <a:lnSpc>
                <a:spcPct val="150000"/>
              </a:lnSpc>
              <a:spcAft>
                <a:spcPts val="738"/>
              </a:spcAft>
            </a:pPr>
            <a:r>
              <a:rPr lang="en-US" altLang="ko-KR" sz="1969" b="1" dirty="0">
                <a:solidFill>
                  <a:srgbClr val="2D87C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5. 사업수행계획서 대비 구현 현황</a:t>
            </a:r>
          </a:p>
        </p:txBody>
      </p:sp>
    </p:spTree>
    <p:extLst>
      <p:ext uri="{BB962C8B-B14F-4D97-AF65-F5344CB8AC3E}">
        <p14:creationId xmlns:p14="http://schemas.microsoft.com/office/powerpoint/2010/main" val="356893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12A01EE-29A4-4141-AF20-3DF2A3C0DDB2}"/>
              </a:ext>
            </a:extLst>
          </p:cNvPr>
          <p:cNvSpPr/>
          <p:nvPr/>
        </p:nvSpPr>
        <p:spPr>
          <a:xfrm>
            <a:off x="866121" y="28860"/>
            <a:ext cx="5753728" cy="3847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24466"/>
            <a:r>
              <a:rPr lang="ko-KR" altLang="en-US" sz="25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 작성 및 지침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14CBD5-06D7-40B2-AB8A-BF69F5F87FED}"/>
              </a:ext>
            </a:extLst>
          </p:cNvPr>
          <p:cNvSpPr/>
          <p:nvPr/>
        </p:nvSpPr>
        <p:spPr>
          <a:xfrm>
            <a:off x="337992" y="57180"/>
            <a:ext cx="344325" cy="75758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92" indent="-136192" defTabSz="1024466">
              <a:buSzPct val="80000"/>
            </a:pPr>
            <a:r>
              <a:rPr lang="en-US" altLang="ko-KR" sz="4923" b="1" spc="-16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4923" b="1" spc="-165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F9080A1-5312-4575-92EC-3EE5A9BF26CA}"/>
              </a:ext>
            </a:extLst>
          </p:cNvPr>
          <p:cNvGrpSpPr/>
          <p:nvPr/>
        </p:nvGrpSpPr>
        <p:grpSpPr>
          <a:xfrm>
            <a:off x="365108" y="911456"/>
            <a:ext cx="11542817" cy="890638"/>
            <a:chOff x="326988" y="963613"/>
            <a:chExt cx="9378539" cy="723643"/>
          </a:xfrm>
        </p:grpSpPr>
        <p:sp>
          <p:nvSpPr>
            <p:cNvPr id="213" name="Rectangle 8">
              <a:extLst>
                <a:ext uri="{FF2B5EF4-FFF2-40B4-BE49-F238E27FC236}">
                  <a16:creationId xmlns:a16="http://schemas.microsoft.com/office/drawing/2014/main" id="{D19E4E9C-02D6-4000-BE24-FCD7E0640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8" y="963613"/>
              <a:ext cx="723114" cy="290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81000" indent="-3810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r>
                <a:rPr lang="en-US" altLang="ko-KR" sz="1723" b="1" dirty="0">
                  <a:solidFill>
                    <a:schemeClr val="tx2"/>
                  </a:solidFill>
                </a:rPr>
                <a:t>1. </a:t>
              </a:r>
              <a:r>
                <a:rPr lang="ko-KR" altLang="en-US" sz="1723" b="1" dirty="0">
                  <a:solidFill>
                    <a:schemeClr val="tx2"/>
                  </a:solidFill>
                </a:rPr>
                <a:t>목적</a:t>
              </a:r>
              <a:endParaRPr lang="en-US" altLang="ko-KR" sz="1723" b="1" dirty="0">
                <a:solidFill>
                  <a:schemeClr val="tx2"/>
                </a:solidFill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4F6013DF-F771-4FA4-823E-8FA1CD77ACA5}"/>
                </a:ext>
              </a:extLst>
            </p:cNvPr>
            <p:cNvSpPr txBox="1"/>
            <p:nvPr/>
          </p:nvSpPr>
          <p:spPr>
            <a:xfrm>
              <a:off x="326988" y="1242863"/>
              <a:ext cx="9378539" cy="4443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3254" lvl="1" indent="-211021">
                <a:buFont typeface="Wingdings" panose="05000000000000000000" pitchFamily="2" charset="2"/>
                <a:buChar char="§"/>
              </a:pP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설계된 내용을 고객이 쉽게 이해하고 </a:t>
              </a:r>
              <a:r>
                <a:rPr lang="ko-KR" altLang="en-US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개발자가 활용</a:t>
              </a: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할 수 있도록 </a:t>
              </a:r>
              <a:r>
                <a:rPr lang="ko-KR" altLang="ko-KR" sz="1477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Prototype</a:t>
              </a: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형태로 화면 구성을 하는 것을 말한다. </a:t>
              </a:r>
              <a:endParaRPr lang="en-US" altLang="ko-KR" sz="14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l"/>
              <a:endParaRPr lang="en-US" altLang="ko-KR" sz="1477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308F65D-E3C6-48B1-BA15-8D5EBAE6C356}"/>
              </a:ext>
            </a:extLst>
          </p:cNvPr>
          <p:cNvGrpSpPr/>
          <p:nvPr/>
        </p:nvGrpSpPr>
        <p:grpSpPr>
          <a:xfrm>
            <a:off x="384109" y="2001240"/>
            <a:ext cx="11542817" cy="898050"/>
            <a:chOff x="326988" y="1953427"/>
            <a:chExt cx="9378539" cy="729666"/>
          </a:xfrm>
        </p:grpSpPr>
        <p:sp>
          <p:nvSpPr>
            <p:cNvPr id="214" name="Rectangle 8">
              <a:extLst>
                <a:ext uri="{FF2B5EF4-FFF2-40B4-BE49-F238E27FC236}">
                  <a16:creationId xmlns:a16="http://schemas.microsoft.com/office/drawing/2014/main" id="{74B34FEE-6A23-42E7-ABC8-142E09EA9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8" y="1953427"/>
              <a:ext cx="1989086" cy="290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81000" indent="-3810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r>
                <a:rPr lang="en-US" altLang="ko-KR" sz="1723" b="1" dirty="0">
                  <a:solidFill>
                    <a:schemeClr val="tx2"/>
                  </a:solidFill>
                </a:rPr>
                <a:t>2. </a:t>
              </a:r>
              <a:r>
                <a:rPr lang="ko-KR" altLang="en-US" sz="1723" b="1" dirty="0">
                  <a:solidFill>
                    <a:schemeClr val="tx2"/>
                  </a:solidFill>
                </a:rPr>
                <a:t>기준 코드 부여 규칙</a:t>
              </a:r>
              <a:endParaRPr lang="en-US" altLang="ko-KR" sz="1723" b="1" dirty="0">
                <a:solidFill>
                  <a:schemeClr val="tx2"/>
                </a:solidFill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8F1655B3-AC20-46A4-A8E0-C8739D776B50}"/>
                </a:ext>
              </a:extLst>
            </p:cNvPr>
            <p:cNvSpPr txBox="1"/>
            <p:nvPr/>
          </p:nvSpPr>
          <p:spPr>
            <a:xfrm>
              <a:off x="326988" y="2238700"/>
              <a:ext cx="9378539" cy="4443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3254" lvl="1" indent="-211021">
                <a:buFont typeface="Wingdings" panose="05000000000000000000" pitchFamily="2" charset="2"/>
                <a:buChar char="§"/>
              </a:pPr>
              <a:r>
                <a:rPr lang="ko-KR" altLang="en-US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문서규칙</a:t>
              </a: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내의 기준</a:t>
              </a:r>
              <a:r>
                <a:rPr lang="en-US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사용. </a:t>
              </a:r>
              <a:endParaRPr lang="en-US" altLang="ko-KR" sz="14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l"/>
              <a:endParaRPr lang="en-US" altLang="ko-KR" sz="1477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BB42A03-E5D5-4C3E-A3C3-C65824EA6A29}"/>
              </a:ext>
            </a:extLst>
          </p:cNvPr>
          <p:cNvGrpSpPr/>
          <p:nvPr/>
        </p:nvGrpSpPr>
        <p:grpSpPr>
          <a:xfrm>
            <a:off x="402447" y="3123672"/>
            <a:ext cx="11542817" cy="1099298"/>
            <a:chOff x="326988" y="2943241"/>
            <a:chExt cx="9378539" cy="893180"/>
          </a:xfrm>
        </p:grpSpPr>
        <p:sp>
          <p:nvSpPr>
            <p:cNvPr id="215" name="Rectangle 8">
              <a:extLst>
                <a:ext uri="{FF2B5EF4-FFF2-40B4-BE49-F238E27FC236}">
                  <a16:creationId xmlns:a16="http://schemas.microsoft.com/office/drawing/2014/main" id="{B57C7986-F8D7-41B6-802A-C6D5A668A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8" y="2943241"/>
              <a:ext cx="1082588" cy="290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81000" indent="-3810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r>
                <a:rPr lang="en-US" altLang="ko-KR" sz="1723" b="1" dirty="0">
                  <a:solidFill>
                    <a:schemeClr val="tx2"/>
                  </a:solidFill>
                </a:rPr>
                <a:t>3. </a:t>
              </a:r>
              <a:r>
                <a:rPr lang="ko-KR" altLang="en-US" sz="1723" b="1" dirty="0">
                  <a:solidFill>
                    <a:schemeClr val="tx2"/>
                  </a:solidFill>
                </a:rPr>
                <a:t>수행규칙</a:t>
              </a:r>
              <a:endParaRPr lang="en-US" altLang="ko-KR" sz="1723" b="1" dirty="0">
                <a:solidFill>
                  <a:schemeClr val="tx2"/>
                </a:solidFill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98D7055A-234C-47B1-883A-29DE5C35A31D}"/>
                </a:ext>
              </a:extLst>
            </p:cNvPr>
            <p:cNvSpPr txBox="1"/>
            <p:nvPr/>
          </p:nvSpPr>
          <p:spPr>
            <a:xfrm>
              <a:off x="326988" y="3234537"/>
              <a:ext cx="9378539" cy="601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3254" lvl="1" indent="-21102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메뉴 마다 화면으로 구성될 페이지를 디자인 형태로 구성한다.</a:t>
              </a:r>
            </a:p>
            <a:p>
              <a:pPr marL="723254" lvl="1" indent="-21102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동일한 구조에 컨텐츠만 변경되는 경우는 화면설계서에서 제외한다.</a:t>
              </a:r>
              <a:endParaRPr lang="en-US" altLang="ko-KR" sz="1477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9A403EF-8FE7-418C-85D4-2F911CE784C6}"/>
              </a:ext>
            </a:extLst>
          </p:cNvPr>
          <p:cNvGrpSpPr/>
          <p:nvPr/>
        </p:nvGrpSpPr>
        <p:grpSpPr>
          <a:xfrm>
            <a:off x="402447" y="4718702"/>
            <a:ext cx="11542817" cy="1106709"/>
            <a:chOff x="326988" y="4240795"/>
            <a:chExt cx="9378539" cy="899201"/>
          </a:xfrm>
        </p:grpSpPr>
        <p:sp>
          <p:nvSpPr>
            <p:cNvPr id="216" name="Rectangle 8">
              <a:extLst>
                <a:ext uri="{FF2B5EF4-FFF2-40B4-BE49-F238E27FC236}">
                  <a16:creationId xmlns:a16="http://schemas.microsoft.com/office/drawing/2014/main" id="{D566A397-A7CF-4DA3-A5DE-986120CBD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8" y="4240795"/>
              <a:ext cx="723114" cy="290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81000" indent="-3810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r>
                <a:rPr lang="en-US" altLang="ko-KR" sz="1723" b="1" dirty="0">
                  <a:solidFill>
                    <a:schemeClr val="tx2"/>
                  </a:solidFill>
                </a:rPr>
                <a:t>4. </a:t>
              </a:r>
              <a:r>
                <a:rPr lang="ko-KR" altLang="en-US" sz="1723" b="1" dirty="0">
                  <a:solidFill>
                    <a:schemeClr val="tx2"/>
                  </a:solidFill>
                </a:rPr>
                <a:t>구성</a:t>
              </a:r>
              <a:endParaRPr lang="en-US" altLang="ko-KR" sz="1723" b="1" dirty="0">
                <a:solidFill>
                  <a:schemeClr val="tx2"/>
                </a:solidFill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9EF8885-6750-4A99-8A2F-F1876E68CF3D}"/>
                </a:ext>
              </a:extLst>
            </p:cNvPr>
            <p:cNvSpPr txBox="1"/>
            <p:nvPr/>
          </p:nvSpPr>
          <p:spPr>
            <a:xfrm>
              <a:off x="326988" y="4538112"/>
              <a:ext cx="9378539" cy="601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3254" lvl="1" indent="-21102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구분 : 실제 화면의 </a:t>
              </a:r>
              <a:r>
                <a:rPr lang="ko-KR" altLang="ko-KR" sz="1477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Depth</a:t>
              </a: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및 내용을 표기</a:t>
              </a:r>
              <a:r>
                <a:rPr lang="en-US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ko-KR" sz="14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723254" lvl="1" indent="-21102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설명 : 화면 구성에 대한 설명 표기</a:t>
              </a:r>
              <a:r>
                <a:rPr lang="en-US" altLang="ko-KR" sz="1477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en-US" altLang="ko-KR" sz="1477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" name="그룹 28">
            <a:extLst>
              <a:ext uri="{FF2B5EF4-FFF2-40B4-BE49-F238E27FC236}">
                <a16:creationId xmlns:a16="http://schemas.microsoft.com/office/drawing/2014/main" id="{AD15233F-1238-9E08-208F-57ABBA974D03}"/>
              </a:ext>
            </a:extLst>
          </p:cNvPr>
          <p:cNvGrpSpPr/>
          <p:nvPr/>
        </p:nvGrpSpPr>
        <p:grpSpPr>
          <a:xfrm>
            <a:off x="135135" y="20642"/>
            <a:ext cx="497947" cy="401160"/>
            <a:chOff x="-1" y="0"/>
            <a:chExt cx="1048277" cy="1048031"/>
          </a:xfrm>
        </p:grpSpPr>
        <p:sp>
          <p:nvSpPr>
            <p:cNvPr id="3" name="한쪽 모서리가 둥근 사각형 18">
              <a:extLst>
                <a:ext uri="{FF2B5EF4-FFF2-40B4-BE49-F238E27FC236}">
                  <a16:creationId xmlns:a16="http://schemas.microsoft.com/office/drawing/2014/main" id="{A6E72DFA-5C38-6A3E-B63C-1AE68E7B929A}"/>
                </a:ext>
              </a:extLst>
            </p:cNvPr>
            <p:cNvSpPr/>
            <p:nvPr/>
          </p:nvSpPr>
          <p:spPr>
            <a:xfrm rot="5400000">
              <a:off x="122" y="-123"/>
              <a:ext cx="1048031" cy="1048277"/>
            </a:xfrm>
            <a:prstGeom prst="round1Rect">
              <a:avLst>
                <a:gd name="adj" fmla="val 0"/>
              </a:avLst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defTabSz="1024272"/>
              <a:endParaRPr lang="ko-KR" altLang="en-US" sz="2092" b="1" dirty="0">
                <a:ln w="12700">
                  <a:solidFill>
                    <a:srgbClr val="4F81BD">
                      <a:shade val="50000"/>
                      <a:alpha val="0"/>
                    </a:srgbClr>
                  </a:solidFill>
                  <a:prstDash val="solid"/>
                </a:ln>
                <a:solidFill>
                  <a:srgbClr val="EEECE1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각 삼각형 7">
              <a:extLst>
                <a:ext uri="{FF2B5EF4-FFF2-40B4-BE49-F238E27FC236}">
                  <a16:creationId xmlns:a16="http://schemas.microsoft.com/office/drawing/2014/main" id="{1E992119-219F-F5B1-C6DC-EDE6ED979E0C}"/>
                </a:ext>
              </a:extLst>
            </p:cNvPr>
            <p:cNvSpPr/>
            <p:nvPr/>
          </p:nvSpPr>
          <p:spPr bwMode="auto">
            <a:xfrm flipH="1">
              <a:off x="847743" y="847521"/>
              <a:ext cx="156324" cy="163342"/>
            </a:xfrm>
            <a:prstGeom prst="rtTriangle">
              <a:avLst/>
            </a:prstGeom>
            <a:solidFill>
              <a:srgbClr val="01B0F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1024272"/>
              <a:endParaRPr lang="ko-KR" altLang="en-US" sz="2708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itchFamily="2" charset="-127"/>
                <a:ea typeface="KoPub돋움체 Bold" pitchFamily="2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6B6520-128A-483B-6462-0F2EBFFBCE05}"/>
              </a:ext>
            </a:extLst>
          </p:cNvPr>
          <p:cNvSpPr/>
          <p:nvPr/>
        </p:nvSpPr>
        <p:spPr>
          <a:xfrm>
            <a:off x="287683" y="77287"/>
            <a:ext cx="15485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6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0.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8911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9D9905-3E3C-4D4E-83DA-F0D5F67EEF8A}"/>
              </a:ext>
            </a:extLst>
          </p:cNvPr>
          <p:cNvSpPr/>
          <p:nvPr/>
        </p:nvSpPr>
        <p:spPr>
          <a:xfrm>
            <a:off x="301396" y="43545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2000" spc="-16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B837A-0617-4B46-A97B-824C0EE3A175}"/>
              </a:ext>
            </a:extLst>
          </p:cNvPr>
          <p:cNvSpPr/>
          <p:nvPr/>
        </p:nvSpPr>
        <p:spPr>
          <a:xfrm>
            <a:off x="1053324" y="48248"/>
            <a:ext cx="8899927" cy="3847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개요 작성 및 지침</a:t>
            </a:r>
            <a:endParaRPr kumimoji="0" lang="ko-KR" altLang="en-US" sz="25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" y="11430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1. 문서의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5669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제주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지반침하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스마트관리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시스템의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구현된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기준으로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단위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기능을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정의한다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각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사업수행계획서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(2026)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어느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조항을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충족하는지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함께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표기하고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,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충족하지</a:t>
            </a:r>
            <a:endParaRPr sz="9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  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못한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항목은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'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보완사항'과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5장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구현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현황에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숨기지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않고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적는다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269748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2. 적용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08960"/>
            <a:ext cx="5669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대상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위험지역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조회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(13개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) 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관리자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(4개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분석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범위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제주특별자치도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전역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· 2015~2021년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위성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관측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구간</a:t>
            </a:r>
            <a:endParaRPr sz="9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제외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서버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연계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열리는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기능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(SSO,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공간DB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반출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,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시계열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재생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)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보완사항으로만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기술</a:t>
            </a:r>
            <a:endParaRPr sz="900" b="0" dirty="0">
              <a:solidFill>
                <a:srgbClr val="262728"/>
              </a:solidFill>
              <a:latin typeface="돋움체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" y="425196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3. 기준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63440"/>
            <a:ext cx="56692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2026년도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사업수행계획서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Ⅲ.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사업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수행부문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2-다.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시스템구축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(p.74~80)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&lt;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14&gt;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복합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위험지수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(CSI)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산정용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핵심인자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및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가중치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(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안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) · p.53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&lt;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19&gt;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GeoAI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엔진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데이터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융합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및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CSI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점수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환산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(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안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) · p.77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&lt;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20&gt;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위험등급별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행정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대응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가이드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라인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및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관리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(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안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) · p.78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&lt;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21&gt;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통합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플랫폼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시스템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성능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및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보안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요구사항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명세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· p.79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14300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4. 표기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5544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ID : SCR-0NN —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문서에서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단위로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새로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부여</a:t>
            </a:r>
            <a:endParaRPr sz="9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요구사항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ID : SFR-0NN —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계획서에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번호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체계가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없어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아래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표와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같이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조항을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번호로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옮김</a:t>
            </a:r>
            <a:endParaRPr sz="9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유스케이스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ID 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인터페이스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ID :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해당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산출물이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아직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없어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'-'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둔다</a:t>
            </a:r>
            <a:endParaRPr sz="9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번호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말풍선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(①②③) :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화면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안의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위치와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오른쪽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Description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번호가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서로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같다</a:t>
            </a:r>
            <a:endParaRPr sz="900" b="0" dirty="0">
              <a:solidFill>
                <a:srgbClr val="262728"/>
              </a:solidFill>
              <a:latin typeface="돋움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297180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5. 요구사항 ID 매핑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64808" y="3310128"/>
          <a:ext cx="5440679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r>
                        <a:rPr sz="750" b="1">
                          <a:latin typeface="돋움체"/>
                        </a:rPr>
                        <a:t>요구사항 ID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돋움체"/>
                        </a:rPr>
                        <a:t>요구사항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돋움체"/>
                        </a:rPr>
                        <a:t>사업수행계획서 조항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SFR-001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 dirty="0">
                          <a:latin typeface="돋움체"/>
                        </a:rPr>
                        <a:t>10m </a:t>
                      </a:r>
                      <a:r>
                        <a:rPr sz="750" b="0" dirty="0" err="1">
                          <a:latin typeface="돋움체"/>
                        </a:rPr>
                        <a:t>표준</a:t>
                      </a:r>
                      <a:r>
                        <a:rPr sz="750" b="0" dirty="0">
                          <a:latin typeface="돋움체"/>
                        </a:rPr>
                        <a:t> </a:t>
                      </a:r>
                      <a:r>
                        <a:rPr sz="750" b="0" dirty="0" err="1">
                          <a:latin typeface="돋움체"/>
                        </a:rPr>
                        <a:t>격자</a:t>
                      </a:r>
                      <a:r>
                        <a:rPr sz="750" b="0" dirty="0">
                          <a:latin typeface="돋움체"/>
                        </a:rPr>
                        <a:t> </a:t>
                      </a:r>
                      <a:r>
                        <a:rPr sz="750" b="0" dirty="0" err="1">
                          <a:latin typeface="돋움체"/>
                        </a:rPr>
                        <a:t>기반</a:t>
                      </a:r>
                      <a:r>
                        <a:rPr sz="750" b="0" dirty="0">
                          <a:latin typeface="돋움체"/>
                        </a:rPr>
                        <a:t> </a:t>
                      </a:r>
                      <a:r>
                        <a:rPr sz="750" b="0" dirty="0" err="1">
                          <a:latin typeface="돋움체"/>
                        </a:rPr>
                        <a:t>멀티소스</a:t>
                      </a:r>
                      <a:r>
                        <a:rPr sz="750" b="0" dirty="0">
                          <a:latin typeface="돋움체"/>
                        </a:rPr>
                        <a:t> </a:t>
                      </a:r>
                      <a:r>
                        <a:rPr sz="750" b="0" dirty="0" err="1">
                          <a:latin typeface="돋움체"/>
                        </a:rPr>
                        <a:t>데이터</a:t>
                      </a:r>
                      <a:r>
                        <a:rPr sz="750" b="0" dirty="0">
                          <a:latin typeface="돋움체"/>
                        </a:rPr>
                        <a:t> </a:t>
                      </a:r>
                      <a:r>
                        <a:rPr sz="750" b="0" dirty="0" err="1">
                          <a:latin typeface="돋움체"/>
                        </a:rPr>
                        <a:t>정규화·융합</a:t>
                      </a:r>
                      <a:endParaRPr sz="750" b="0" dirty="0">
                        <a:latin typeface="돋움체"/>
                      </a:endParaRP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Ⅲ-2-다-1) p.75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SFR-002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복합 위험지수(CSI) 연산 엔진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Ⅲ-2-다-3) p.77 · &lt;표 14&gt; p.53 · &lt;표 19&gt; p.77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SFR-003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위험군 자동 분류 · 고위험군(상위 5%) 자동 플래그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Ⅲ-2-가-나) p.54 · p.83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SFR-004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설명가능 AI(XAI) 판단 근거 자동 추출 · 기여도 시각화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Ⅲ-2-다-3)나)(1) p.78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SFR-005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위험등급별 행정 대응 워크플로우 매칭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Ⅲ-2-다-3)나)(2) p.79 · &lt;표 20&gt; p.78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SFR-006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지반안전 모니터링 통합 뷰어(레이어 오버레이)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Ⅲ-2-다-4)가)(1) p.79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SFR-007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시공간 타임슬라이더(과거 변위 이력 재생)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Ⅲ-2-다-4)가)(2) p.79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SFR-008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복합 조건 필터링 및 고위험 구역 타겟팅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Ⅲ-2-다-4)나)(1) p.79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SFR-009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관심구역 분석 리포트 자동 생성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Ⅲ-2-다-4)나)(2) p.79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SFR-010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연계용 공간데이터 반출 및 메타데이터 표기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Ⅲ-2-다-4)나)(2) p.79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SFR-011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데이터 보안·권한 관리(중요 시설물 정보 보호)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Ⅲ-2-다-4)가) p.80 · &lt;표 21&gt; p.79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SFR-012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돋움체"/>
                        </a:rPr>
                        <a:t>지하수 모니터링 시스템 연계</a:t>
                      </a:r>
                    </a:p>
                  </a:txBody>
                  <a:tcPr marL="36576" marR="36576" marT="0" marB="0"/>
                </a:tc>
                <a:tc>
                  <a:txBody>
                    <a:bodyPr/>
                    <a:lstStyle/>
                    <a:p>
                      <a:r>
                        <a:rPr sz="750" b="0" dirty="0">
                          <a:latin typeface="돋움체"/>
                        </a:rPr>
                        <a:t>Ⅲ-2-다-2) p.76</a:t>
                      </a:r>
                    </a:p>
                  </a:txBody>
                  <a:tcPr marL="36576" marR="36576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9D9905-3E3C-4D4E-83DA-F0D5F67EEF8A}"/>
              </a:ext>
            </a:extLst>
          </p:cNvPr>
          <p:cNvSpPr/>
          <p:nvPr/>
        </p:nvSpPr>
        <p:spPr>
          <a:xfrm>
            <a:off x="301396" y="43545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2000" spc="-16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B837A-0617-4B46-A97B-824C0EE3A175}"/>
              </a:ext>
            </a:extLst>
          </p:cNvPr>
          <p:cNvSpPr/>
          <p:nvPr/>
        </p:nvSpPr>
        <p:spPr>
          <a:xfrm>
            <a:off x="1053324" y="48248"/>
            <a:ext cx="8899927" cy="3847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시스템 구성</a:t>
            </a:r>
            <a:endParaRPr kumimoji="0" lang="ko-KR" altLang="en-US" sz="25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2057400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KoPub돋움체 Bold"/>
              </a:rPr>
              <a:t>원본 GIS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31720"/>
            <a:ext cx="1920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위성 InSAR 10m 격자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상하수도 관로망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도로점용(굴착) 허가대장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지반침하 사고이력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수치지질도 · 재해위험지구</a:t>
            </a:r>
          </a:p>
        </p:txBody>
      </p:sp>
      <p:sp>
        <p:nvSpPr>
          <p:cNvPr id="11" name="Can 10"/>
          <p:cNvSpPr/>
          <p:nvPr/>
        </p:nvSpPr>
        <p:spPr>
          <a:xfrm>
            <a:off x="2542032" y="1883664"/>
            <a:ext cx="164592" cy="182880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15768" y="1783080"/>
            <a:ext cx="2057400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KoPub돋움체 Bold"/>
              </a:rPr>
              <a:t>데이터 구축 (배치)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31720"/>
            <a:ext cx="1920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좌표 변환 EPSG:5186 → WGS84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100m 격자 바인딩 · 7개 인자 산출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CSI 채점 · 등급 분류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후보 구역 군집(1,179곳)</a:t>
            </a:r>
          </a:p>
        </p:txBody>
      </p:sp>
      <p:sp>
        <p:nvSpPr>
          <p:cNvPr id="14" name="Can 13"/>
          <p:cNvSpPr/>
          <p:nvPr/>
        </p:nvSpPr>
        <p:spPr>
          <a:xfrm>
            <a:off x="4846320" y="1883664"/>
            <a:ext cx="164592" cy="182880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0056" y="1783080"/>
            <a:ext cx="2057400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KoPub돋움체 Bold"/>
              </a:rPr>
              <a:t>산출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331720"/>
            <a:ext cx="1920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위험지역 후보 · 100m 격자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InSAR 10m 격자(블록 분할)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관로 · 굴착 · 사고이력 · 지질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분석 모델 정의(model.json)</a:t>
            </a:r>
          </a:p>
        </p:txBody>
      </p:sp>
      <p:sp>
        <p:nvSpPr>
          <p:cNvPr id="17" name="Can 16"/>
          <p:cNvSpPr/>
          <p:nvPr/>
        </p:nvSpPr>
        <p:spPr>
          <a:xfrm>
            <a:off x="7150608" y="1883664"/>
            <a:ext cx="164592" cy="182880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24344" y="1783080"/>
            <a:ext cx="2057400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KoPub돋움체 Bold"/>
              </a:rPr>
              <a:t>웹 클라이언트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2331720"/>
            <a:ext cx="1920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지도 뷰어 · 레이어 중첩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조회 · 집계 · 우선순위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판단근거(XAI) 화면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권한 · 작업 기록</a:t>
            </a:r>
          </a:p>
        </p:txBody>
      </p:sp>
      <p:sp>
        <p:nvSpPr>
          <p:cNvPr id="20" name="Can 19"/>
          <p:cNvSpPr/>
          <p:nvPr/>
        </p:nvSpPr>
        <p:spPr>
          <a:xfrm>
            <a:off x="9454896" y="1883664"/>
            <a:ext cx="164592" cy="182880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28632" y="1783080"/>
            <a:ext cx="2057400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KoPub돋움체 Bold"/>
              </a:rPr>
              <a:t>반출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1784" y="2331720"/>
            <a:ext cx="1920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GeoJSON · CSV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보고서 PDF · Excel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메타데이터 동봉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43484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구성 특징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480060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분석은 배치에서 끝내고 화면은 산출 데이터를 읽기만 한다. 조회 조건이 바뀌어도 서버 호출 없이 다시 집계하므로 지도 렌더링은 3초 이내로 유지된다(&lt;표 21&gt; 성능 요구).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배경지도는 국토교통부 브이월드만 사용한다. 인증키가 없으면 배경 없이 격자만 그리고, 국외 공개 타일로 대체하지 않는다.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관로 · 굴착 등 지하시설물 자료는 '중요 시설물 정보 보호' 대상으로 역할별 권한을 따로 둔다(&lt;표 21&gt; 보안 요구).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사고 이력 · 권한 · 작업 기록은 현재 브라우저에 저장된다. 서버 연계 시 공용 DB와 SSO로 옮기는 것을 전제로 화면을 정의했다.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9D9905-3E3C-4D4E-83DA-F0D5F67EEF8A}"/>
              </a:ext>
            </a:extLst>
          </p:cNvPr>
          <p:cNvSpPr/>
          <p:nvPr/>
        </p:nvSpPr>
        <p:spPr>
          <a:xfrm>
            <a:off x="301396" y="43545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2000" spc="-16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B837A-0617-4B46-A97B-824C0EE3A175}"/>
              </a:ext>
            </a:extLst>
          </p:cNvPr>
          <p:cNvSpPr/>
          <p:nvPr/>
        </p:nvSpPr>
        <p:spPr>
          <a:xfrm>
            <a:off x="1053324" y="48248"/>
            <a:ext cx="8899927" cy="3847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 구성</a:t>
            </a:r>
            <a:endParaRPr kumimoji="0" lang="ko-KR" altLang="en-US" sz="25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5394960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KoPub돋움체 Bold"/>
              </a:rPr>
              <a:t>위험지역 조회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조회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92807"/>
            <a:ext cx="356616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지역 선택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기간 선택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조회하기 · 조건 초기화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60320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지도 레이어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78608"/>
            <a:ext cx="356616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위험등급(CSI)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지반 변위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관로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굴착공사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침하 사고이력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재해위험지구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12463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조회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730751"/>
            <a:ext cx="356616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등급 분포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점검 우선순위 목록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구역 상세 · 판단 근거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398264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반출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416551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공간정보 내보내기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보고서 자동생성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928616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946903"/>
            <a:ext cx="35661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위험 징후 알림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325880"/>
            <a:ext cx="5394960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KoPub돋움체 Bold"/>
              </a:rPr>
              <a:t>관리자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874519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권한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92807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지도 레이어 권한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파일 내보내기 권한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04872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사고 이력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목록 조회 · 등록 · 수정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엑셀 내보내기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935224"/>
            <a:ext cx="1600200" cy="310896"/>
          </a:xfrm>
          <a:prstGeom prst="rect">
            <a:avLst/>
          </a:prstGeom>
          <a:solidFill>
            <a:srgbClr val="E8EEF7"/>
          </a:solidFill>
          <a:ln>
            <a:solidFill>
              <a:srgbClr val="C3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62728"/>
                </a:solidFill>
                <a:latin typeface="돋움체"/>
              </a:rPr>
              <a:t>작업 기록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53512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반출 · 변경 · 권한 이력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850" b="0">
                <a:solidFill>
                  <a:srgbClr val="262728"/>
                </a:solidFill>
                <a:latin typeface="돋움체"/>
              </a:rPr>
              <a:t>· 필터 · 엑셀 내보내기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623560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헤더는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'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위험지역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조회'와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'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관리자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'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메뉴만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둔다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지역·기간은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조회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패널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안에서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고르므로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헤더에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두지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않는다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관리자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메뉴는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관리자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역할에게만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보이고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,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역할에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없는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레이어·반출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형식은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목록에서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아예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사라진다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9D9905-3E3C-4D4E-83DA-F0D5F67EEF8A}"/>
              </a:ext>
            </a:extLst>
          </p:cNvPr>
          <p:cNvSpPr/>
          <p:nvPr/>
        </p:nvSpPr>
        <p:spPr>
          <a:xfrm>
            <a:off x="301396" y="43545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2000" spc="-16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B837A-0617-4B46-A97B-824C0EE3A175}"/>
              </a:ext>
            </a:extLst>
          </p:cNvPr>
          <p:cNvSpPr/>
          <p:nvPr/>
        </p:nvSpPr>
        <p:spPr>
          <a:xfrm>
            <a:off x="1053324" y="48248"/>
            <a:ext cx="8899927" cy="3847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업무 프로세스</a:t>
            </a:r>
            <a:endParaRPr kumimoji="0" lang="ko-KR" altLang="en-US" sz="25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1691640" cy="1051560"/>
          </a:xfrm>
          <a:prstGeom prst="roundRect">
            <a:avLst/>
          </a:prstGeom>
          <a:solidFill>
            <a:srgbClr val="F4F7FC"/>
          </a:solidFill>
          <a:ln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F497D"/>
                </a:solidFill>
                <a:latin typeface="KoPub돋움체 Bold"/>
              </a:rPr>
              <a:t>① 조회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지역 · 기간 선택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조회하기</a:t>
            </a:r>
          </a:p>
        </p:txBody>
      </p:sp>
      <p:sp>
        <p:nvSpPr>
          <p:cNvPr id="10" name="Can 9"/>
          <p:cNvSpPr/>
          <p:nvPr/>
        </p:nvSpPr>
        <p:spPr>
          <a:xfrm>
            <a:off x="2148840" y="2258568"/>
            <a:ext cx="182880" cy="201168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31720" y="1828800"/>
            <a:ext cx="1691640" cy="1051560"/>
          </a:xfrm>
          <a:prstGeom prst="roundRect">
            <a:avLst/>
          </a:prstGeom>
          <a:solidFill>
            <a:srgbClr val="F4F7FC"/>
          </a:solidFill>
          <a:ln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1F497D"/>
                </a:solidFill>
                <a:latin typeface="KoPub돋움체 Bold"/>
              </a:rPr>
              <a:t>② </a:t>
            </a:r>
            <a:r>
              <a:rPr sz="1050" b="1" dirty="0" err="1">
                <a:solidFill>
                  <a:srgbClr val="1F497D"/>
                </a:solidFill>
                <a:latin typeface="KoPub돋움체 Bold"/>
              </a:rPr>
              <a:t>집계</a:t>
            </a:r>
            <a:endParaRPr sz="1050" b="1" dirty="0">
              <a:solidFill>
                <a:srgbClr val="1F497D"/>
              </a:solidFill>
              <a:latin typeface="KoPub돋움체 Bold"/>
            </a:endParaRPr>
          </a:p>
          <a:p>
            <a:pPr>
              <a:spcBef>
                <a:spcPts val="300"/>
              </a:spcBef>
            </a:pPr>
            <a:r>
              <a:rPr sz="850" dirty="0" err="1">
                <a:solidFill>
                  <a:srgbClr val="262728"/>
                </a:solidFill>
                <a:latin typeface="돋움체"/>
              </a:rPr>
              <a:t>등급</a:t>
            </a:r>
            <a:r>
              <a:rPr sz="85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50" dirty="0" err="1">
                <a:solidFill>
                  <a:srgbClr val="262728"/>
                </a:solidFill>
                <a:latin typeface="돋움체"/>
              </a:rPr>
              <a:t>분포</a:t>
            </a:r>
            <a:r>
              <a:rPr sz="85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50" dirty="0" err="1">
                <a:solidFill>
                  <a:srgbClr val="262728"/>
                </a:solidFill>
                <a:latin typeface="돋움체"/>
              </a:rPr>
              <a:t>산출</a:t>
            </a:r>
            <a:endParaRPr sz="850" dirty="0">
              <a:solidFill>
                <a:srgbClr val="262728"/>
              </a:solidFill>
              <a:latin typeface="돋움체"/>
            </a:endParaRPr>
          </a:p>
        </p:txBody>
      </p:sp>
      <p:sp>
        <p:nvSpPr>
          <p:cNvPr id="12" name="Can 11"/>
          <p:cNvSpPr/>
          <p:nvPr/>
        </p:nvSpPr>
        <p:spPr>
          <a:xfrm>
            <a:off x="4069080" y="2258568"/>
            <a:ext cx="182880" cy="201168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51960" y="1828800"/>
            <a:ext cx="1691640" cy="1051560"/>
          </a:xfrm>
          <a:prstGeom prst="roundRect">
            <a:avLst/>
          </a:prstGeom>
          <a:solidFill>
            <a:srgbClr val="F4F7FC"/>
          </a:solidFill>
          <a:ln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1F497D"/>
                </a:solidFill>
                <a:latin typeface="KoPub돋움체 Bold"/>
              </a:rPr>
              <a:t>③ </a:t>
            </a:r>
            <a:r>
              <a:rPr sz="1050" b="1" dirty="0" err="1">
                <a:solidFill>
                  <a:srgbClr val="1F497D"/>
                </a:solidFill>
                <a:latin typeface="KoPub돋움체 Bold"/>
              </a:rPr>
              <a:t>우선순위</a:t>
            </a:r>
            <a:endParaRPr sz="1050" b="1" dirty="0">
              <a:solidFill>
                <a:srgbClr val="1F497D"/>
              </a:solidFill>
              <a:latin typeface="KoPub돋움체 Bold"/>
            </a:endParaRPr>
          </a:p>
          <a:p>
            <a:pPr>
              <a:spcBef>
                <a:spcPts val="300"/>
              </a:spcBef>
            </a:pPr>
            <a:r>
              <a:rPr sz="850" dirty="0">
                <a:solidFill>
                  <a:srgbClr val="262728"/>
                </a:solidFill>
                <a:latin typeface="돋움체"/>
              </a:rPr>
              <a:t>CSI </a:t>
            </a:r>
            <a:r>
              <a:rPr sz="850" dirty="0" err="1">
                <a:solidFill>
                  <a:srgbClr val="262728"/>
                </a:solidFill>
                <a:latin typeface="돋움체"/>
              </a:rPr>
              <a:t>높은</a:t>
            </a:r>
            <a:r>
              <a:rPr sz="85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50" dirty="0" err="1">
                <a:solidFill>
                  <a:srgbClr val="262728"/>
                </a:solidFill>
                <a:latin typeface="돋움체"/>
              </a:rPr>
              <a:t>순</a:t>
            </a:r>
            <a:r>
              <a:rPr sz="85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50" dirty="0" err="1">
                <a:solidFill>
                  <a:srgbClr val="262728"/>
                </a:solidFill>
                <a:latin typeface="돋움체"/>
              </a:rPr>
              <a:t>정렬</a:t>
            </a:r>
            <a:endParaRPr sz="850" dirty="0">
              <a:solidFill>
                <a:srgbClr val="262728"/>
              </a:solidFill>
              <a:latin typeface="돋움체"/>
            </a:endParaRPr>
          </a:p>
          <a:p>
            <a:pPr>
              <a:spcBef>
                <a:spcPts val="300"/>
              </a:spcBef>
            </a:pPr>
            <a:r>
              <a:rPr sz="850" dirty="0" err="1">
                <a:solidFill>
                  <a:srgbClr val="262728"/>
                </a:solidFill>
                <a:latin typeface="돋움체"/>
              </a:rPr>
              <a:t>지도</a:t>
            </a:r>
            <a:r>
              <a:rPr sz="850" dirty="0">
                <a:solidFill>
                  <a:srgbClr val="262728"/>
                </a:solidFill>
                <a:latin typeface="돋움체"/>
              </a:rPr>
              <a:t> ↔ </a:t>
            </a:r>
            <a:r>
              <a:rPr sz="850" dirty="0" err="1">
                <a:solidFill>
                  <a:srgbClr val="262728"/>
                </a:solidFill>
                <a:latin typeface="돋움체"/>
              </a:rPr>
              <a:t>목록</a:t>
            </a:r>
            <a:r>
              <a:rPr sz="85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50" dirty="0" err="1">
                <a:solidFill>
                  <a:srgbClr val="262728"/>
                </a:solidFill>
                <a:latin typeface="돋움체"/>
              </a:rPr>
              <a:t>연동</a:t>
            </a:r>
            <a:endParaRPr sz="850" dirty="0">
              <a:solidFill>
                <a:srgbClr val="262728"/>
              </a:solidFill>
              <a:latin typeface="돋움체"/>
            </a:endParaRPr>
          </a:p>
        </p:txBody>
      </p:sp>
      <p:sp>
        <p:nvSpPr>
          <p:cNvPr id="14" name="Can 13"/>
          <p:cNvSpPr/>
          <p:nvPr/>
        </p:nvSpPr>
        <p:spPr>
          <a:xfrm>
            <a:off x="5989320" y="2258568"/>
            <a:ext cx="182880" cy="201168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1691640" cy="1051560"/>
          </a:xfrm>
          <a:prstGeom prst="roundRect">
            <a:avLst/>
          </a:prstGeom>
          <a:solidFill>
            <a:srgbClr val="F4F7FC"/>
          </a:solidFill>
          <a:ln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F497D"/>
                </a:solidFill>
                <a:latin typeface="KoPub돋움체 Bold"/>
              </a:rPr>
              <a:t>④ 판단근거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인자별 기여도 확인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원인 후보 확인</a:t>
            </a:r>
          </a:p>
        </p:txBody>
      </p:sp>
      <p:sp>
        <p:nvSpPr>
          <p:cNvPr id="16" name="Can 15"/>
          <p:cNvSpPr/>
          <p:nvPr/>
        </p:nvSpPr>
        <p:spPr>
          <a:xfrm>
            <a:off x="7909560" y="2258568"/>
            <a:ext cx="182880" cy="201168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1691640" cy="1051560"/>
          </a:xfrm>
          <a:prstGeom prst="roundRect">
            <a:avLst/>
          </a:prstGeom>
          <a:solidFill>
            <a:srgbClr val="F4F7FC"/>
          </a:solidFill>
          <a:ln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F497D"/>
                </a:solidFill>
                <a:latin typeface="KoPub돋움체 Bold"/>
              </a:rPr>
              <a:t>⑤ 반출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공간정보 · 보고서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메타데이터 동봉</a:t>
            </a:r>
          </a:p>
        </p:txBody>
      </p:sp>
      <p:sp>
        <p:nvSpPr>
          <p:cNvPr id="18" name="Can 17"/>
          <p:cNvSpPr/>
          <p:nvPr/>
        </p:nvSpPr>
        <p:spPr>
          <a:xfrm>
            <a:off x="9829800" y="2258568"/>
            <a:ext cx="182880" cy="201168"/>
          </a:xfrm>
          <a:prstGeom prst="can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12680" y="1828800"/>
            <a:ext cx="1691640" cy="1051560"/>
          </a:xfrm>
          <a:prstGeom prst="roundRect">
            <a:avLst/>
          </a:prstGeom>
          <a:solidFill>
            <a:srgbClr val="F4F7FC"/>
          </a:solidFill>
          <a:ln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F497D"/>
                </a:solidFill>
                <a:latin typeface="KoPub돋움체 Bold"/>
              </a:rPr>
              <a:t>⑥ 현장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점검 계획 수립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262728"/>
                </a:solidFill>
                <a:latin typeface="돋움체"/>
              </a:rPr>
              <a:t>사고 이력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24612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화면 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36118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50" b="0" dirty="0">
                <a:solidFill>
                  <a:srgbClr val="262728"/>
                </a:solidFill>
                <a:latin typeface="돋움체"/>
              </a:rPr>
              <a:t>① SCR-001   ② SCR-002   ③ SCR-002 · SCR-004~006   ④ SCR-003   ⑤ SCR-008 · SCR-009   ⑥ SCR-012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34340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판단의 전제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470916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격자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채점과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후보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도출은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배치에서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이미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끝난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일이고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, '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조회하기'는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결과를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지역·기간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조건으로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다시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뽑아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보는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조회다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CSI는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상대지수다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 93점은 "93%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위험"이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아니라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제주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전역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상위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구간을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100으로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놓았을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때의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위치이므로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,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순위를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인용할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때는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조회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범위를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함께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적어야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한다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선택은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굴착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인자에만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걸린다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가중치가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작아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기간을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바꿔도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등급은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거의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움직이지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않으며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, InSAR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시계열이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들어와야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기간이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온전한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의미를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갖는다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900" b="0" dirty="0">
                <a:solidFill>
                  <a:srgbClr val="262728"/>
                </a:solidFill>
                <a:latin typeface="돋움체"/>
              </a:rPr>
              <a:t>·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결과는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확정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판정이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아니라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현장점검과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부서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협의를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위한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분석근거다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원인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후보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역시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상위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인자에서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뽑은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후보일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뿐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확정된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원인이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900" b="0" dirty="0" err="1">
                <a:solidFill>
                  <a:srgbClr val="262728"/>
                </a:solidFill>
                <a:latin typeface="돋움체"/>
              </a:rPr>
              <a:t>아니다</a:t>
            </a:r>
            <a:r>
              <a:rPr sz="900" b="0" dirty="0">
                <a:solidFill>
                  <a:srgbClr val="262728"/>
                </a:solidFill>
                <a:latin typeface="돋움체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 – 조회 조건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SFR-006, SFR-008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1_조회조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58165" y="220480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58165" y="2692941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58165" y="3317148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529352" y="1650479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25250" y="4901755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1.지역 선택 : 제주도 전체 · 제주시 · 서귀포시, 시 선택 시 읍면동까지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2.기간 선택 : 위성 관측이 있는 2015~2021년만 연 단위로 선택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3.조회하기 : 선택한 조건으로 후보 구역을 다시 집계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4.지도 레이어 : 위험등급(CSI) · 지반 변위 · 관로 · 굴착공사 · 침하 사고이력 · 재해위험지구를 겹쳐 봄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5.등급 범례 : E(위험)~A(안정) 5단계 색과 CSI 점수 구간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복합 조건(변위량 AND 관로 연한 AND 거리) 검색은 미구현 — 지역·기간 조건만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 – 조회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SFR-002, SFR-003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2_조회결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204642" y="1667421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081429" y="2291098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159044" y="3257851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159044" y="453009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253151" y="5054233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16783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1.조회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조건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요약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지역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기간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조회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시각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2.등급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분포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후보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lang="ko-KR" altLang="en-US" sz="800" b="0" dirty="0">
                <a:solidFill>
                  <a:srgbClr val="262728"/>
                </a:solidFill>
                <a:latin typeface="돋움체"/>
              </a:rPr>
              <a:t>지역을 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E~A 5등급으로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집계해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도넛</a:t>
            </a:r>
            <a:r>
              <a:rPr lang="ko-KR" altLang="en-US" sz="800" b="0" dirty="0">
                <a:solidFill>
                  <a:srgbClr val="262728"/>
                </a:solidFill>
                <a:latin typeface="돋움체"/>
              </a:rPr>
              <a:t> 차트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표시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3.등급별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집계표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등급별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후보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수와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면적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(ha)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4.점검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우선순위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목록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CSI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높은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,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동점이면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넓은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구역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먼저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5.목록 ↔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지도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연동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목록에서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고른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구역으로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지도가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이동하고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번호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핀이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붙음</a:t>
            </a:r>
            <a:endParaRPr sz="800" b="0" dirty="0">
              <a:solidFill>
                <a:srgbClr val="262728"/>
              </a:solidFill>
              <a:latin typeface="돋움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등급 구간은 &lt;표 20&gt;(4단계 A~D)과 달리 5단계(E~A)로 구현 — 5. 구현 현황 참조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 – 구역 상세 · 판단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SFR-004, SFR-002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3_상세판단근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159044" y="1964965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159044" y="3057724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159044" y="3939237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049414" y="5880685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856049" y="4251076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1.구역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요약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구역명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위치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면적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CSI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점수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위험등급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2.판단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근거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인자별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기여도를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막대와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점수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(+51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등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)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분해해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표시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3.원인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후보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기여도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1순위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인자에서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뽑은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원인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후보와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2순위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4.내보내기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구역만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공간정보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보고서로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반출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5.선택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구역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강조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지도에서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해당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구역을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테두리로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표시</a:t>
            </a:r>
            <a:endParaRPr sz="800" b="0" dirty="0">
              <a:solidFill>
                <a:srgbClr val="262728"/>
              </a:solidFill>
              <a:latin typeface="돋움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 dirty="0" err="1">
                <a:solidFill>
                  <a:srgbClr val="757575"/>
                </a:solidFill>
                <a:latin typeface="돋움체"/>
              </a:rPr>
              <a:t>지하수위·포트홀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인자가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없어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기여도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분해는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7개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인자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범위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안에서만</a:t>
            </a:r>
            <a:r>
              <a:rPr sz="750" b="0" dirty="0">
                <a:solidFill>
                  <a:srgbClr val="757575"/>
                </a:solidFill>
                <a:latin typeface="돋움체"/>
              </a:rPr>
              <a:t> </a:t>
            </a:r>
            <a:r>
              <a:rPr sz="750" b="0" dirty="0" err="1">
                <a:solidFill>
                  <a:srgbClr val="757575"/>
                </a:solidFill>
                <a:latin typeface="돋움체"/>
              </a:rPr>
              <a:t>이뤄짐</a:t>
            </a:r>
            <a:endParaRPr sz="750" b="0" dirty="0">
              <a:solidFill>
                <a:srgbClr val="757575"/>
              </a:solidFill>
              <a:latin typeface="돋움체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지도 레이어 – 지반 변위(10m 격자)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SFR-001, SFR-006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4_지반변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4850019" y="3886823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25250" y="5293009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529352" y="1650479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1.10m 격자 : 위성 InSAR 산출물의 격자를 그대로 표시, 확대하면 누적변위(mm)를 숫자로 표기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2.변위속도 범례 : EEA EGMS 기준 5구간(mm/yr)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3.레이어 전환 : 위험등급(CSI)과 지반 변위는 색이 겹쳐 동시에 켜지지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시계열 자료 미반영 — 누적변위는 분석기간 전체의 단일 값. 타임슬라이더(SFR-007) 미구현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지도 레이어 – 지하시설물(관로 · 굴착공사)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SFR-001, SFR-006, SFR-011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5_지하시설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244120" y="3403976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4871363" y="3779347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529352" y="1650479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1.관로 : 상수관로 · 하수관거 · 폐관을 종류별 색으로 표시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2.굴착공사 : 도로점용(굴착) 허가 지점을 군집해 건수를 숫자 배지로 표시, 누르면 대장 내용 표시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3.레이어 선택 : 위험등급 격자 위에 겹쳐 지상-지중을 함께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관로·굴착은 중요 시설물 정보 보호 대상 — 역할별 권한으로 노출 제어(SCR-010)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지도 레이어 – 침하 사고이력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SFR-001, SFR-006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6_사고이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727269" y="2673352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746672" y="294866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529352" y="1650479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1.사고 지점 : 지반침하 발생 이력을 지도에 표시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2.지점 상세 : 누르면 발생일 · 규모 · 발생원인 등 원본 대장 기록을 표시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3.레이어 선택 : 위험등급 격자와 겹쳐 과거 이력과 현재 위험도를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제주도 자체 집계(2014~)와 지하안전정보시스템 대장을 합쳐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 징후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7_알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8840363" y="1316933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076579" y="1766426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6983441" y="2111089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1.알림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조회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조건에서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발생한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위험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징후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건수를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헤더에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표시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2.알림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목록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고위험군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자동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식별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(CSI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상위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5%)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리스크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변동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·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데이터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연속성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항목</a:t>
            </a:r>
            <a:endParaRPr sz="800" b="0" dirty="0">
              <a:solidFill>
                <a:srgbClr val="262728"/>
              </a:solidFill>
              <a:latin typeface="돋움체"/>
            </a:endParaRP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 dirty="0">
                <a:solidFill>
                  <a:srgbClr val="262728"/>
                </a:solidFill>
                <a:latin typeface="돋움체"/>
              </a:rPr>
              <a:t>3.바로가기 :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알림을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누르면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해당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구역으로</a:t>
            </a:r>
            <a:r>
              <a:rPr sz="800" b="0" dirty="0">
                <a:solidFill>
                  <a:srgbClr val="262728"/>
                </a:solidFill>
                <a:latin typeface="돋움체"/>
              </a:rPr>
              <a:t> </a:t>
            </a:r>
            <a:r>
              <a:rPr sz="800" b="0" dirty="0" err="1">
                <a:solidFill>
                  <a:srgbClr val="262728"/>
                </a:solidFill>
                <a:latin typeface="돋움체"/>
              </a:rPr>
              <a:t>이동</a:t>
            </a:r>
            <a:endParaRPr sz="800" b="0" dirty="0">
              <a:solidFill>
                <a:srgbClr val="262728"/>
              </a:solidFill>
              <a:latin typeface="돋움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변위 가속도·지하수위 급감 트리거는 시계열·지하수 자료 연계 후 추가 예정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공간정보 내보내기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SFR-010, SFR-011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8_공간정보내보내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164865" y="5296186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164865" y="550849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049414" y="6100931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1.반출 형식 : GeoJSON · CSV 즉시 반출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2.서버 연계 후 제공 : Shapefile(SHP) · GeoTIFF는 서버 변환이 필요해 비활성, 사유를 함께 표시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3.권한 연동 : 역할에 없는 형식은 목록에 나타나지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GeoTIFF · SHP · 공간DB 테이블 반출은 서버 연계 후 구현(SFR-010 일부)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위험지역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분석 리포트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SFR-009, SFR-010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09_보고서생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8399902" y="5720795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8399902" y="5933099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7049414" y="6100931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1.보고서 형식 : PDF · Excel을 조회한 조건 그대로 즉시 생성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2.보고서 구성 : 등급 분포 · 점검 우선순위 목록 · 인자별 판단근거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3.메타데이터 : 좌표계 · 분석 시점 · 분석 단위 · 입력자료 · 속성 정의 · 위험등급 기준을 함께 표기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계획서가 요구한 메타데이터 6종을 보고서 마지막 장에 수록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 – 지도 레이어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10_권한_지도레이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867691" y="252511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3300644" y="252511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5919156" y="252511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9192538" y="4337904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1.역할 : 시스템 관리자 · 서비스 관리자 · 일반 사용자 3단계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2.레이어별 허용 : 역할에 없는 레이어는 지도 레이어 설정 목록에서 아예 보이지 않음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3.중요 시설물 표시 : 관로 · 굴착은 ＊로 표시해 보호 대상임을 명시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4.저장 : 변경 내용은 작업 기록에 자동으로 남음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실제 차단은 SSO 연동과 보안 게이트웨이가 서버에서 수행 — 현재는 화면 정의 수준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 – 파일 내보내기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SFR-010, SFR-011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11_권한_파일내보내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867691" y="252511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3300644" y="2525110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9192538" y="4185955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1.역할 : 시스템 관리자 · 서비스 관리자 · 일반 사용자에게 따로 부여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2.반출 형식 : GeoJSON · CSV · PDF · Excel. 허용하지 않은 형식은 내보내기 메뉴에 나타나지 않음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3.저장 : 변경 내용은 작업 기록에 자동으로 남음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반출 이력(누가·언제·무엇을)은 SCR-013 작업 기록에서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 – 사고 이력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12_사고이력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900931" y="2198447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867691" y="2635762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8966486" y="2905775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1.검색 : 사고관리번호 · 주소 · 내용으로 목록을 추려 봄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2.사고 이력 목록 : 발생일 · 주소 · 복구상태 · 깊이 · 사고내용 · 구분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3.등록 · 수정 : 관리 열에서 담당자가 기록을 직접 고치고, 목록은 엑셀로 올리거나 내려받음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브라우저에 저장되는 구조 — 서버 연계 후 공용 DB로 이관 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4663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9480" y="4663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관리자 – 작업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7223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SCR-013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1192" y="722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95097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SFR-011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50976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722376"/>
            <a:ext cx="7589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95097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(주)이노팸</a:t>
            </a:r>
          </a:p>
        </p:txBody>
      </p:sp>
      <p:pic>
        <p:nvPicPr>
          <p:cNvPr id="10" name="Picture 9" descr="S13_작업기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261872"/>
            <a:ext cx="9701784" cy="5291882"/>
          </a:xfrm>
          <a:prstGeom prst="rect">
            <a:avLst/>
          </a:prstGeom>
          <a:ln w="6350">
            <a:solidFill>
              <a:srgbClr val="8A93A3"/>
            </a:solidFill>
          </a:ln>
        </p:spPr>
      </p:pic>
      <p:sp>
        <p:nvSpPr>
          <p:cNvPr id="13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2206283" y="2144444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867691" y="2580171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말풍선: 타원형 67">
            <a:extLst>
              <a:ext uri="{FF2B5EF4-FFF2-40B4-BE49-F238E27FC236}">
                <a16:creationId xmlns:a16="http://schemas.microsoft.com/office/drawing/2014/main" id="{5AE447AF-D2CB-AFCA-C090-B140639970B3}"/>
              </a:ext>
            </a:extLst>
          </p:cNvPr>
          <p:cNvSpPr/>
          <p:nvPr/>
        </p:nvSpPr>
        <p:spPr>
          <a:xfrm>
            <a:off x="1867691" y="2850714"/>
            <a:ext cx="219975" cy="218506"/>
          </a:xfrm>
          <a:prstGeom prst="wedgeEllipseCallout">
            <a:avLst>
              <a:gd name="adj1" fmla="val -37361"/>
              <a:gd name="adj2" fmla="val 630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indent="-248271" algn="ctr" defTabSz="1125444" fontAlgn="base" latinLnBrk="0">
              <a:spcBef>
                <a:spcPct val="0"/>
              </a:spcBef>
              <a:buClr>
                <a:prstClr val="white">
                  <a:lumMod val="65000"/>
                </a:prstClr>
              </a:buClr>
              <a:buSzPct val="80000"/>
              <a:defRPr/>
            </a:pPr>
            <a:r>
              <a:rPr lang="en-US" altLang="ko-KR" sz="985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85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6376" y="1517904"/>
            <a:ext cx="2212848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1.필터 : 작업 종류(내보내기 · 사고 이력 · 권한)로 추려 보고 엑셀로 내려받음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2.기록 항목 : 일시 · 사용자 · 역할 · 작업 · 대상 · 내용 · 결과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800" b="0">
                <a:solidFill>
                  <a:srgbClr val="262728"/>
                </a:solidFill>
                <a:latin typeface="돋움체"/>
              </a:rPr>
              <a:t>3.기록 대상 : 파일 반출 · 사고 자료 변경 · 권한 변경을 자동으로 남김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376" y="6089904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750" b="0">
                <a:solidFill>
                  <a:srgbClr val="757575"/>
                </a:solidFill>
                <a:latin typeface="돋움체"/>
              </a:rPr>
              <a:t>브라우저 저장 — 감사 증적으로 쓰려면 서버 측 기록으로 옮겨야 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9D9905-3E3C-4D4E-83DA-F0D5F67EEF8A}"/>
              </a:ext>
            </a:extLst>
          </p:cNvPr>
          <p:cNvSpPr/>
          <p:nvPr/>
        </p:nvSpPr>
        <p:spPr>
          <a:xfrm>
            <a:off x="301396" y="43545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2000" spc="-16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B837A-0617-4B46-A97B-824C0EE3A175}"/>
              </a:ext>
            </a:extLst>
          </p:cNvPr>
          <p:cNvSpPr/>
          <p:nvPr/>
        </p:nvSpPr>
        <p:spPr>
          <a:xfrm>
            <a:off x="1053324" y="48248"/>
            <a:ext cx="8899927" cy="3847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사업수행계획서 대비 구현 현황</a:t>
            </a:r>
            <a:endParaRPr kumimoji="0" lang="ko-KR" altLang="en-US" sz="25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34440"/>
          <a:ext cx="113842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800" b="1">
                          <a:latin typeface="돋움체"/>
                        </a:rPr>
                        <a:t>요구사항 ID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latin typeface="돋움체"/>
                        </a:rPr>
                        <a:t>요구사항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latin typeface="돋움체"/>
                        </a:rPr>
                        <a:t>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latin typeface="돋움체"/>
                        </a:rPr>
                        <a:t>해당 화면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latin typeface="돋움체"/>
                        </a:rPr>
                        <a:t>내용 및 미구현 사유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SFR-001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10m 격자 멀티소스 융합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7F37"/>
                          </a:solidFill>
                          <a:latin typeface="돋움체"/>
                        </a:rPr>
                        <a:t>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SCR-004, SCR-005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제주 전역 10m 격자 InSAR 산출물에 관로·굴착·사고이력·지질을 100m 격자로 결합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SFR-002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CSI 연산 엔진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B56E00"/>
                          </a:solidFill>
                          <a:latin typeface="돋움체"/>
                        </a:rPr>
                        <a:t>부분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SCR-002, SCR-003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7개 인자 가중합으로 산출. &lt;표 14&gt;의 지하수위·포트홀·교통량 인자는 자료 미확보로 제외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고위험군 자동 분류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B56E00"/>
                          </a:solidFill>
                          <a:latin typeface="돋움체"/>
                        </a:rPr>
                        <a:t>부분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SCR-002, SCR-007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CSI 상위 5% 자동 식별·알림까지 구현. 변위 가속도 임계 판정은 시계열 자료 필요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SFR-004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XAI 판단 근거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7F37"/>
                          </a:solidFill>
                          <a:latin typeface="돋움체"/>
                        </a:rPr>
                        <a:t>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인자별 기여도를 막대·점수로 분해해 제시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SFR-005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행정 대응 워크플로우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C0392B"/>
                          </a:solidFill>
                          <a:latin typeface="돋움체"/>
                        </a:rPr>
                        <a:t>미구현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-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&lt;표 20&gt;의 등급별 행정 조치는 "(안)" 단계로 확정 기준이 없어 화면에서 제외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SFR-006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통합 뷰어(레이어 오버레이)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7F37"/>
                          </a:solidFill>
                          <a:latin typeface="돋움체"/>
                        </a:rPr>
                        <a:t>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SCR-001 ~ SCR-006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위험등급·지반 변위·관로·굴착·사고이력·재해위험지구 6개 레이어 중첩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SFR-007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시공간 타임슬라이더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C0392B"/>
                          </a:solidFill>
                          <a:latin typeface="돋움체"/>
                        </a:rPr>
                        <a:t>미구현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-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InSAR 시계열 산출물 입수 후 구현 예정. 현재는 분석기간 전체의 단일 누적변위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SFR-008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복합 조건 필터링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B56E00"/>
                          </a:solidFill>
                          <a:latin typeface="돋움체"/>
                        </a:rPr>
                        <a:t>부분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SCR-001, SCR-002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지역·기간·등급·지도 범위 필터 제공. 인자값 조합 검색은 미구현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SFR-009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분석 리포트 자동 생성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7F37"/>
                          </a:solidFill>
                          <a:latin typeface="돋움체"/>
                        </a:rPr>
                        <a:t>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SCR-009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조회 조건 그대로 PDF·Excel 즉시 생성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SFR-010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연계용 데이터 반출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B56E00"/>
                          </a:solidFill>
                          <a:latin typeface="돋움체"/>
                        </a:rPr>
                        <a:t>부분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SCR-008, SCR-011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GeoJSON·CSV 제공, 메타데이터 6종 표기. SHP·GeoTIFF·공간DB는 서버 연계 후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SFR-011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보안 · 권한 관리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B56E00"/>
                          </a:solidFill>
                          <a:latin typeface="돋움체"/>
                        </a:rPr>
                        <a:t>부분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SCR-010 ~ SCR-013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역할별 레이어·반출 권한과 작업 기록을 화면으로 정의. 실제 차단은 SSO·게이트웨이 연계 필요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SFR-012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지하수 모니터링 연계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C0392B"/>
                          </a:solidFill>
                          <a:latin typeface="돋움체"/>
                        </a:rPr>
                        <a:t>미구현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-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돋움체"/>
                        </a:rPr>
                        <a:t>서비스 3 관측 자료 연계 후 CSI 인자로 추가 예정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44068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요약 — 구현 4 · 부분 5 · 미구현 3 (전체 12건)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580644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미구현 3건은 모두 입력 자료가 아직 없는 항목이다. 시계열 InSAR(SFR-007) · 지하수 관측(SFR-012)은 자료 연계 후 같은 화면에 더할 수 있도록 구조를 비워 두었다.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SFR-005(행정 대응 워크플로우)는 &lt;표 20&gt;이 '(안)' 단계라 확정 기준이 없어 화면에서 제외했다. 조례·내부 점검규정으로 기준이 확정되면 등급별 조치를 다시 넣는다.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'부분'은 핵심 동선은 열려 있으나 서버 연계나 추가 자료가 있어야 완성되는 항목이다. 각 화면의 보완사항에 사유를 적었다.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9D9905-3E3C-4D4E-83DA-F0D5F67EEF8A}"/>
              </a:ext>
            </a:extLst>
          </p:cNvPr>
          <p:cNvSpPr/>
          <p:nvPr/>
        </p:nvSpPr>
        <p:spPr>
          <a:xfrm>
            <a:off x="301396" y="43545"/>
            <a:ext cx="178895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136179" marR="0" lvl="0" indent="-136179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2000" spc="-16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</a:t>
            </a:r>
            <a:endParaRPr kumimoji="0" lang="ko-KR" altLang="en-US" sz="2000" b="0" i="0" u="none" strike="noStrike" kern="1200" cap="none" spc="-16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B837A-0617-4B46-A97B-824C0EE3A175}"/>
              </a:ext>
            </a:extLst>
          </p:cNvPr>
          <p:cNvSpPr/>
          <p:nvPr/>
        </p:nvSpPr>
        <p:spPr>
          <a:xfrm>
            <a:off x="1053324" y="48248"/>
            <a:ext cx="8899927" cy="3847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l" defTabSz="102437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사업수행계획서 대비 구현 현황 – CSI 인자 · 등급 기준</a:t>
            </a:r>
            <a:endParaRPr kumimoji="0" lang="ko-KR" altLang="en-US" sz="25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가. 위험인자 및 가중치 — &lt;표 14&gt; p.53 · &lt;표 19&gt; p.77 대비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1207" y="1536192"/>
          <a:ext cx="11155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평가 계층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계획서(안)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구현한 인자와 가중치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차이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지반위험도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40%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지반 변위 지속성(위성 InSAR) 30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30%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지하수위 예측 변동폭 미반영 — 서비스 3 관측자료 연계 후 추가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취약성 지수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30%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관로 노후도 22 · 폐관/교체 이력 12 · 지질 취약성 10 · 관로 밀집도 7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51%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용암동굴 거리 대신 수치지질도 기반 지질 취약성으로 대체 · 관로 인자를 셋으로 나눠 비중이 커짐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안전 / 노출도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30%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지반침하 사고 이력 인접 14 · 굴착공사 영향 5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19%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포트홀 빈도 · 도로 등급 · 교통량 미확보 — 사고 이력과 굴착 허가로 일부 대체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338328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나. 위험등급 기준 — &lt;표 20&gt; p.78 대비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1207" y="3730752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구분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계획서(안) &lt;표 20&gt;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728"/>
                          </a:solidFill>
                          <a:latin typeface="돋움체"/>
                        </a:rPr>
                        <a:t>구현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단계 수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매우위험(D) · 위험(C) · 관찰(B) · 안정(A) 4단계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E(위험) · D(경계) · C(주의) · B(관찰) · A(안정) 5단계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점수 구간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D 20점 이상 / C 15~19 / B 6~14 / A 6점 미만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E 85 이상 / D 70~84 / C 55~69 / B 40~54 / A 39 이하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점수 성격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절대 점수 구간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제주 전역 분포를 100으로 놓은 백분위 상대지수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근거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계획서 &lt;표 20&gt; (안)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62728"/>
                          </a:solidFill>
                          <a:latin typeface="돋움체"/>
                        </a:rPr>
                        <a:t>계획서 p.54 "4단계 또는 5단계" 허용 조항을 따라 5단계 채택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553212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100" b="1">
                <a:solidFill>
                  <a:srgbClr val="1F497D"/>
                </a:solidFill>
                <a:latin typeface="KoPub돋움체 Bold"/>
              </a:rPr>
              <a:t>확인이 필요한 사항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589788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계층별 가중치가 계획서(안)의 40 : 30 : 30 과 다르다(30 : 51 : 19). 확보한 자료만으로 합을 100 으로 맞추면서 생긴 차이이며, 지하수·포트홀·교통량이 들어오면 계획서 비율에 맞춰 재조정해야 한다.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00" b="0">
                <a:solidFill>
                  <a:srgbClr val="262728"/>
                </a:solidFill>
                <a:latin typeface="돋움체"/>
              </a:rPr>
              <a:t>· CSI 점수 구간이 계획서(안)와 다른 것은 점수 성격이 달라서다. 구현값은 제주 전역 분포 기준의 상대지수여서 절대 점수 구간을 그대로 쓸 수 없다. 두 기준을 함께 쓸 경우 환산표가 필요하다.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pub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indent="-201715" algn="ctr" defTabSz="914400" fontAlgn="base" latinLnBrk="0">
          <a:spcBef>
            <a:spcPct val="0"/>
          </a:spcBef>
          <a:buClr>
            <a:prstClr val="white">
              <a:lumMod val="65000"/>
            </a:prstClr>
          </a:buClr>
          <a:buSzPct val="80000"/>
          <a:defRPr sz="1400" dirty="0">
            <a:solidFill>
              <a:prstClr val="black"/>
            </a:solidFill>
            <a:latin typeface="Rix모던고딕 B" pitchFamily="18" charset="-127"/>
            <a:ea typeface="Rix모던고딕 B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95040</TotalTime>
  <Words>3160</Words>
  <Application>Microsoft Macintosh PowerPoint</Application>
  <PresentationFormat>와이드스크린</PresentationFormat>
  <Paragraphs>515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4" baseType="lpstr">
      <vt:lpstr>나눔고딕 bold</vt:lpstr>
      <vt:lpstr>함초롬바탕</vt:lpstr>
      <vt:lpstr>돋움</vt:lpstr>
      <vt:lpstr>돋움체</vt:lpstr>
      <vt:lpstr>굴림</vt:lpstr>
      <vt:lpstr>HY헤드라인M</vt:lpstr>
      <vt:lpstr>KoPub돋움체 Bold</vt:lpstr>
      <vt:lpstr>맑은 고딕</vt:lpstr>
      <vt:lpstr>Arial</vt:lpstr>
      <vt:lpstr>Wingdings</vt:lpstr>
      <vt:lpstr>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SJByun</dc:creator>
  <cp:lastModifiedBy>박 규영</cp:lastModifiedBy>
  <cp:revision>3248</cp:revision>
  <cp:lastPrinted>2024-08-23T02:47:14Z</cp:lastPrinted>
  <dcterms:created xsi:type="dcterms:W3CDTF">2020-11-09T02:19:22Z</dcterms:created>
  <dcterms:modified xsi:type="dcterms:W3CDTF">2026-10-19T07:45:04Z</dcterms:modified>
</cp:coreProperties>
</file>